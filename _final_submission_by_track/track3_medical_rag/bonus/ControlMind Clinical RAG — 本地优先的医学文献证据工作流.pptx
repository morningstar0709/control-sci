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6256000" cy="9144000"/>
  <p:notesSz cx="9144000" cy="16256000"/>
  <p:embeddedFontLst>
    <p:embeddedFont>
      <p:font typeface="QuattrocentoSans" panose="020B0502050000020003" pitchFamily="34" charset="0"/>
      <p:regular r:id="rId17"/>
    </p:embeddedFont>
    <p:embeddedFont>
      <p:font typeface="微软雅黑" panose="020B0503020204020204" pitchFamily="34" charset="-122"/>
      <p:regular r:id="rId18"/>
      <p:bold r:id="rId1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0926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emo.askiler.com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1778000"/>
            <a:ext cx="889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Clinical RAG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3556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本地优先的医学文献证据工作流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4318000"/>
            <a:ext cx="2540000" cy="25400"/>
          </a:xfrm>
          <a:prstGeom prst="rect">
            <a:avLst/>
          </a:prstGeom>
          <a:solidFill>
            <a:srgbClr val="8A9A8C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4572000"/>
            <a:ext cx="762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Track 3 · 场景攻坚：行业应用转化赛道（医疗赛题）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2026 MinerU 数据智能与前沿语料挑战赛</a:t>
            </a:r>
            <a:endParaRPr 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0" y="1270000"/>
            <a:ext cx="4826000" cy="6604000"/>
          </a:xfrm>
          <a:prstGeom prst="rect">
            <a:avLst/>
          </a:prstGeom>
          <a:gradFill flip="none" rotWithShape="1">
            <a:gsLst>
              <a:gs pos="0">
                <a:srgbClr val="2D4A3E">
                  <a:alpha val="8000"/>
                </a:srgbClr>
              </a:gs>
              <a:gs pos="50000">
                <a:srgbClr val="B85C38">
                  <a:alpha val="3000"/>
                </a:srgbClr>
              </a:gs>
              <a:gs pos="100000">
                <a:srgbClr val="2D4A3E">
                  <a:alpha val="8000"/>
                </a:srgbClr>
              </a:gs>
            </a:gsLst>
            <a:lin ang="8100000" scaled="1"/>
          </a:gra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2065000" y="1905000"/>
            <a:ext cx="3556000" cy="5334000"/>
          </a:xfrm>
          <a:prstGeom prst="rect">
            <a:avLst/>
          </a:prstGeom>
          <a:solidFill>
            <a:srgbClr val="FFFFFF">
              <a:alpha val="1961"/>
            </a:srgbClr>
          </a:solidFill>
          <a:ln w="12700">
            <a:solidFill>
              <a:srgbClr val="FFFFFF">
                <a:alpha val="6275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2000" y="87630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MorningStar0709/control-sci · CC-BY-4.0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医学 RAG 的问题不是"能不能回答"——是"答案有没有来处"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传统 RAG 证据链断裂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1651000"/>
            <a:ext cx="6858000" cy="2540000"/>
          </a:xfrm>
          <a:prstGeom prst="roundRect">
            <a:avLst>
              <a:gd name="adj" fmla="val 2000"/>
            </a:avLst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1803400"/>
            <a:ext cx="6350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① 切片断裂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固定字数拆分 → 丢失 IMRAD 章节结构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↓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② 检索上下文错配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检索命中无关章节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↓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③ RAG 幻觉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模型在错配证据上自由发挥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8128000" y="1270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反向切断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128000" y="1651000"/>
            <a:ext cx="7366000" cy="2540000"/>
          </a:xfrm>
          <a:prstGeom prst="roundRect">
            <a:avLst>
              <a:gd name="adj" fmla="val 2000"/>
            </a:avLst>
          </a:prstGeom>
          <a:solidFill>
            <a:srgbClr val="2D4A3E">
              <a:alpha val="6275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2000" y="1803400"/>
            <a:ext cx="6858000" cy="223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MinerU 保全版面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多栏+表格+图表+公式联合提取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↓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章节本体切片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28 层级医学标签精准切分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↓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Hybrid 检索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在正确上下文中工作 → 幻觉被结构性抑制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62000" y="4572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4889500"/>
            <a:ext cx="3302000" cy="165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5016500"/>
            <a:ext cx="330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98</a:t>
            </a:r>
            <a:r>
              <a:rPr lang="en-US" sz="20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篇入选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577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PMC 开放获取文献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13 个控制×医学交叉方向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21200" y="4889500"/>
            <a:ext cx="3302000" cy="165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21200" y="5016500"/>
            <a:ext cx="330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97</a:t>
            </a:r>
            <a:r>
              <a:rPr lang="en-US" sz="20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篇解析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21200" y="577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100% 成功率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零空文件零错误标记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80400" y="4889500"/>
            <a:ext cx="3302000" cy="165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80400" y="5016500"/>
            <a:ext cx="330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~3h</a:t>
            </a:r>
            <a:r>
              <a:rPr lang="en-US" sz="20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全自动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80400" y="5778500"/>
            <a:ext cx="330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PDF → 结构化 chunk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含 MinerU 解析 + 嵌入 + 切片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2039600" y="4889500"/>
            <a:ext cx="3454400" cy="1651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39600" y="5016500"/>
            <a:ext cx="34544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~100×</a:t>
            </a:r>
            <a:r>
              <a:rPr lang="en-US" sz="20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效率提升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2039600" y="5778500"/>
            <a:ext cx="3454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传统人工 200-400h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自动化压缩至约 3h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2000" y="6985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传统做法中单篇高质量医学文献的标准化处理需 2-4 小时，98 篇文献意味着 200-400 工时，且回答无法追溯来源。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将处理时间压缩至约 1/100——效率提升约两个数量级，同时保留完整的证据链可追溯性。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§1.1-1.3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02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文献不是扁平文本——97 篇 PMC 产出 3,348 个带医学章节标签的证据单元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section_distribution.png"/>
          <p:cNvPicPr>
            <a:picLocks noChangeAspect="1"/>
          </p:cNvPicPr>
          <p:nvPr/>
        </p:nvPicPr>
        <p:blipFill>
          <a:blip r:embed="rId3"/>
          <a:srcRect t="-26725" b="-26725"/>
          <a:stretch/>
        </p:blipFill>
        <p:spPr>
          <a:xfrm>
            <a:off x="762000" y="1206500"/>
            <a:ext cx="8128000" cy="5334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98000" y="1206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医学章节本体切片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98000" y="1587500"/>
            <a:ext cx="6096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每个 chunk 携带 </a:t>
            </a: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medical_label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和 </a:t>
            </a: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medical_parent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8 个 L1 章节类别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约 20 个 L2 子章节标签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Primary outcome · Secondary outcome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Subgroup analysis · Sensitivity analysis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398000" y="4318000"/>
            <a:ext cx="6096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9398000" y="450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MinerU 管线性能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9398000" y="4889500"/>
            <a:ext cx="609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解析成功率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97/97（100%）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总输出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42,967 行结构化 Markdown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总切片数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3,348（训练 2,636 / 评估 712）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嵌入模型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qwen3-embedding:4b（2,560 维）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端到端耗时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PDF → chunk 约 3 小时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62000" y="7048500"/>
            <a:ext cx="14732000" cy="12700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6000" y="71755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零代码迁移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：同一套 mineru-to-md 引擎，从控制科学到医学无需调整任何参数。98 篇 PMC 文献经同一 Docker 解析管线处理，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五个故障驱动迭代（GPU 生命周期管理 / 断点续跑 / stats 质量审计）形成的工程可靠性，对医学文献实现零修改迁移。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§2.1-2.3 · 图 2.1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03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先检索，再合成，再审计——不是先生成再补引用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medical_rag_evidence_loop.png"/>
          <p:cNvPicPr>
            <a:picLocks noChangeAspect="1"/>
          </p:cNvPicPr>
          <p:nvPr/>
        </p:nvPicPr>
        <p:blipFill>
          <a:blip r:embed="rId3"/>
          <a:srcRect t="-3843" b="-3843"/>
          <a:stretch/>
        </p:blipFill>
        <p:spPr>
          <a:xfrm>
            <a:off x="762000" y="1206500"/>
            <a:ext cx="8382000" cy="508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52000" y="120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四个关键决策点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652000" y="1625600"/>
            <a:ext cx="5842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5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① Hybrid 检索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FAISS + BM25 RRF 返回候选 chunk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② Evidence Cards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提取确定性来源信息，含 role 与 support_level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③ Claims 白名单校验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后端只接受本次检索出现的 chunk_id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每条 claim 绑定 citation coverage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④ Answer Audit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检查 OS/PFS 边界、个人诊疗风险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5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证据不足 → 保守回答或拒答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62000" y="6731000"/>
            <a:ext cx="14732000" cy="13970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" y="6794500"/>
            <a:ext cx="1422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Source-Structured RAG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：不是"带引用的回答"，是"每条 claim 绑定一份来源卡片"。模型被降格为"证据组织器"——不能从记忆中补全任何一句没有来源的结论。系统优化目标是让每个回答都能被拆回"问题 → 检索词 → 来源 chunk → 结论 claim → 安全边界"的链路。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§3.0-3.3 · 图 3.0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04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14 个 Judge，1,050 条评分——不是跑分，是评估评估者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rag_judge_heatmap.png"/>
          <p:cNvPicPr>
            <a:picLocks noChangeAspect="1"/>
          </p:cNvPicPr>
          <p:nvPr/>
        </p:nvPicPr>
        <p:blipFill>
          <a:blip r:embed="rId3"/>
          <a:srcRect t="-6237" b="-6237"/>
          <a:stretch/>
        </p:blipFill>
        <p:spPr>
          <a:xfrm>
            <a:off x="762000" y="1206500"/>
            <a:ext cx="7239000" cy="3937000"/>
          </a:xfrm>
          <a:prstGeom prst="rect">
            <a:avLst/>
          </a:prstGeom>
        </p:spPr>
      </p:pic>
      <p:pic>
        <p:nvPicPr>
          <p:cNvPr id="5" name="Image 1" descr="https://kimi-img.moonshot.cn/pub/slides/okc/dgauc5rvrzrhc/mnt/agents/output/medical_rag_ppt/images/rag_dimension_radar.png"/>
          <p:cNvPicPr>
            <a:picLocks noChangeAspect="1"/>
          </p:cNvPicPr>
          <p:nvPr/>
        </p:nvPicPr>
        <p:blipFill>
          <a:blip r:embed="rId4"/>
          <a:srcRect l="-16853" r="-16853"/>
          <a:stretch/>
        </p:blipFill>
        <p:spPr>
          <a:xfrm>
            <a:off x="8255000" y="1206500"/>
            <a:ext cx="7239000" cy="3937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5397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Judge 一致性（Krippendorff's α）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778500"/>
          <a:ext cx="7366000" cy="1651001"/>
        </p:xfrm>
        <a:graphic>
          <a:graphicData uri="http://schemas.openxmlformats.org/drawingml/2006/table">
            <a:tbl>
              <a:tblPr/>
              <a:tblGrid>
                <a:gridCol w="162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151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Judge 组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整体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Relevance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Completeness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Traceability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69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All 14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0.462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0.681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0.644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0.458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695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API 8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0.549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0.842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0.755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0.470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92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6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0.429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0.609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0.514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8509000" y="5397500"/>
            <a:ext cx="6985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Bootstrap 稳定性发现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gemma3:4b CI=[1,1] → 首选 Judge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qwen3.5:9b CI=[5,13] → 最不稳定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ds-v4-pro CI=[14,14] → 锁定第 14 名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评分为王的是小模型，并非规模最大者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4"/>
          <p:cNvSpPr/>
          <p:nvPr/>
        </p:nvSpPr>
        <p:spPr>
          <a:xfrm>
            <a:off x="762000" y="7620000"/>
            <a:ext cx="14732000" cy="7620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016000" y="7721600"/>
            <a:ext cx="1422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设计意图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：RAG 检索质量的评估本身面临与检索相同的可靠性问题——14 个独立 Judge 的交叉验证将"评估评估者"内化成系统设计的一部分。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§3.7、§4.2 · 图 4.1、图 4.2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05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证据不只在正文里——纯文本索引对图表证据零命中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vision_injection_ab_comparison.png"/>
          <p:cNvPicPr>
            <a:picLocks noChangeAspect="1"/>
          </p:cNvPicPr>
          <p:nvPr/>
        </p:nvPicPr>
        <p:blipFill>
          <a:blip r:embed="rId3"/>
          <a:srcRect t="-7317" b="-7317"/>
          <a:stretch/>
        </p:blipFill>
        <p:spPr>
          <a:xfrm>
            <a:off x="762000" y="1206500"/>
            <a:ext cx="7366000" cy="3810000"/>
          </a:xfrm>
          <a:prstGeom prst="rect">
            <a:avLst/>
          </a:prstGeom>
        </p:spPr>
      </p:pic>
      <p:pic>
        <p:nvPicPr>
          <p:cNvPr id="5" name="Image 1" descr="https://kimi-img.moonshot.cn/pub/slides/okc/dgauc5rvrzrhc/mnt/agents/output/medical_rag_ppt/images/rag_hybrid_vs_dense.png"/>
          <p:cNvPicPr>
            <a:picLocks noChangeAspect="1"/>
          </p:cNvPicPr>
          <p:nvPr/>
        </p:nvPicPr>
        <p:blipFill>
          <a:blip r:embed="rId4"/>
          <a:srcRect t="-13288" b="-13288"/>
          <a:stretch/>
        </p:blipFill>
        <p:spPr>
          <a:xfrm>
            <a:off x="8382000" y="1206500"/>
            <a:ext cx="7112000" cy="3810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588000" y="5207000"/>
            <a:ext cx="5080000" cy="889000"/>
          </a:xfrm>
          <a:prstGeom prst="roundRect">
            <a:avLst>
              <a:gd name="adj" fmla="val 4000"/>
            </a:avLst>
          </a:pr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3"/>
          <p:cNvSpPr/>
          <p:nvPr/>
        </p:nvSpPr>
        <p:spPr>
          <a:xfrm>
            <a:off x="5588000" y="5207000"/>
            <a:ext cx="508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0/8 → 8/8</a:t>
            </a:r>
            <a:r>
              <a:rPr lang="en-US" sz="3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8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命中逆转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4"/>
          <p:cNvSpPr/>
          <p:nvPr/>
        </p:nvSpPr>
        <p:spPr>
          <a:xfrm>
            <a:off x="762000" y="6350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视觉注入三层质量控制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947 处图片引用 → 721 张保留（76.1%）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730 张医学图片覆盖 92/98 篇 PMC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MiMo API + qwen3.5:9b 本地双路径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本地 16.6s/图，零 API 依赖，检索效果可比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5"/>
          <p:cNvSpPr/>
          <p:nvPr/>
        </p:nvSpPr>
        <p:spPr>
          <a:xfrm>
            <a:off x="8382000" y="6350000"/>
            <a:ext cx="7112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Hybrid 检索互补性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Dense vs Sparse top-5 重叠率仅 57.6%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平均约 2/5 的结果来自不同通道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BM25 补足专业术语精确匹配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FAISS 负责语义相似，BM25 补足缩写与药代参数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§3.3、§3.6、§4.3 · 图 3.1、图 4.3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06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中文问，中文答——证据来自英文 PMC 文献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medical_zh_ask_flow.png"/>
          <p:cNvPicPr>
            <a:picLocks noChangeAspect="1"/>
          </p:cNvPicPr>
          <p:nvPr/>
        </p:nvPicPr>
        <p:blipFill>
          <a:blip r:embed="rId3"/>
          <a:srcRect l="-9286" r="-9286"/>
          <a:stretch/>
        </p:blipFill>
        <p:spPr>
          <a:xfrm>
            <a:off x="762000" y="1206500"/>
            <a:ext cx="8890000" cy="482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0" y="120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跨语言 RAG 链路四节点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60000" y="1625600"/>
            <a:ext cx="533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① 中文问题输入</a:t>
            </a: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用户以中文提出医学问题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② Query Rewrite</a:t>
            </a: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自动改写为英文检索词，保留药学术语精确性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③ Hybrid RRF 检索</a:t>
            </a: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BGE M3 + FAISS/BM25 多通道检索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④ 中文证据输出</a:t>
            </a: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本地 qwen3.5:9b 中文组织 claims 与回答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60000" y="4572000"/>
            <a:ext cx="5334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160000" y="4699000"/>
            <a:ext cx="533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7/7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Hit@3 全部命中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6/7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Label Hit@3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1.00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平均首命中排名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2/7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触发多 query 融合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62000" y="6477000"/>
            <a:ext cx="14732000" cy="16510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6000" y="6604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跨语言不是翻译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——检索词桥接保留了药学术语的精确性（如 "closed loop insulin" → "48 months insulin requirements closed loop daily dose adaptive"），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而不是简单逐字翻译。7 个中文固定题全部完成桥接，本地 qwen3.5:9b 合成阶段共生成 25 条 claims，25 条均被本轮检索证据支撑。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§4.4 · 图 4.4a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07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25 条 claims，25 条都有来源——trace 证明这不是话术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zh_ask_rag_trace_summary.png"/>
          <p:cNvPicPr>
            <a:picLocks noChangeAspect="1"/>
          </p:cNvPicPr>
          <p:nvPr/>
        </p:nvPicPr>
        <p:blipFill>
          <a:blip r:embed="rId3"/>
          <a:srcRect l="-6956" r="-6956"/>
          <a:stretch/>
        </p:blipFill>
        <p:spPr>
          <a:xfrm>
            <a:off x="762000" y="1206500"/>
            <a:ext cx="8890000" cy="482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160000" y="120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JSONL Trace 关键字段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160000" y="1625600"/>
            <a:ext cx="5334000" cy="327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claim_count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= 25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supported_claims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= 25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unsupported_claims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= 0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citation_coverage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= 1.0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question_type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识别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evidence_cards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来源卡片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answer_audit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审查层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safety_triage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安全分诊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60000" y="4978400"/>
            <a:ext cx="5334000" cy="15875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350500" y="5054600"/>
            <a:ext cx="4953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answer_audit 检查项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claim 引用白名单校验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OS/PFS 终点定义边界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个人诊疗建议风险拦截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350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多索引对照（中文 Ask 7 题）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4351435"/>
              </p:ext>
            </p:extLst>
          </p:nvPr>
        </p:nvGraphicFramePr>
        <p:xfrm>
          <a:off x="762000" y="6731000"/>
          <a:ext cx="14732000" cy="1269999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4009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检索索引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Hit@3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Label Hit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首命中排名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结构化 RAG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机制题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引用覆盖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9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Qwen3 Embedding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6/7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1.143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0.571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95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BGE M3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6/7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1.000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7/7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1.000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§4.4 · 图 4.4 · DATA-TRACE #29-33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08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困惑度降 47%，但格式依赖暴增 1891%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ppl_dual_mode_comparison.png"/>
          <p:cNvPicPr>
            <a:picLocks noChangeAspect="1"/>
          </p:cNvPicPr>
          <p:nvPr/>
        </p:nvPicPr>
        <p:blipFill>
          <a:blip r:embed="rId3"/>
          <a:srcRect t="-4131" b="-4131"/>
          <a:stretch/>
        </p:blipFill>
        <p:spPr>
          <a:xfrm>
            <a:off x="762000" y="1206500"/>
            <a:ext cx="8128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98000" y="120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双模式 PPL 探针发现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9398000" y="1625600"/>
            <a:ext cx="6096000" cy="332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同一 QLoRA adapter，两种输入格式，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方向相反的相反信号：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ChatML 模式（同分布）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PPL 11.18 → 5.92 </a:t>
            </a: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−47.0%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48/48 医学标签一致改善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Raw 模式（异分布）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PPL 54.39 → 1083.09 </a:t>
            </a: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+1891.5%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权重发生实质性改变的旁证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4"/>
          <p:cNvSpPr/>
          <p:nvPr/>
        </p:nvSpPr>
        <p:spPr>
          <a:xfrm>
            <a:off x="9398000" y="5016500"/>
            <a:ext cx="6096000" cy="15875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88500" y="5080000"/>
            <a:ext cx="5715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跨领域一致性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控制科学 ChatML −53.6% vs 医学 −47.0%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两个独立领域落在同一 47-54% 区间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→ PPL 悖论不是偶然，是模型层面的可预测行为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762000" y="6667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格式绑定成本的章节粒度分布（Raw 模式）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725603"/>
              </p:ext>
            </p:extLst>
          </p:nvPr>
        </p:nvGraphicFramePr>
        <p:xfrm>
          <a:off x="762000" y="7048500"/>
          <a:ext cx="14732000" cy="16510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8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187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行为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代表标签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Raw PPL 变化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n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解读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改善（免疫）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pharmacokinetics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−30.7%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32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药代动力学参数天然具有格式通用性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基本不变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results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+8.6%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174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结果章节最大且最稳定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严重退化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introduction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+1291.0%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164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大段叙事文本格式依赖较强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最严重退化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data_collection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+2910.0%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71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数据采集流程高度结构化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§3.4 · 图 3.2 · DATA-TRACE #9-10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8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09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不是说"安全"——是系统在应该拒答的问题上确实拒答了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Image 0" descr="https://kimi-img.moonshot.cn/pub/slides/okc/dgauc5rvrzrhc/mnt/agents/output/medical_rag_ppt/images/medbench_evidence_boundary.png"/>
          <p:cNvPicPr>
            <a:picLocks noChangeAspect="1"/>
          </p:cNvPicPr>
          <p:nvPr/>
        </p:nvPicPr>
        <p:blipFill>
          <a:blip r:embed="rId3"/>
          <a:srcRect t="-6889" b="-6889"/>
          <a:stretch/>
        </p:blipFill>
        <p:spPr>
          <a:xfrm>
            <a:off x="762000" y="1206500"/>
            <a:ext cx="8636000" cy="482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06000" y="1206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三类安全拒答全部拦截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9906000" y="1625600"/>
            <a:ext cx="5588000" cy="8255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096500" y="1689100"/>
            <a:ext cx="520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急症处置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status=safety_refusal · retrieval_mode=none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9906000" y="2578100"/>
            <a:ext cx="5588000" cy="8255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096500" y="2641600"/>
            <a:ext cx="520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个人用药剂量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privacy=local_only · raw_context_sent_to_cloud=false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906000" y="3530600"/>
            <a:ext cx="5588000" cy="8255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096500" y="3594100"/>
            <a:ext cx="5207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个人诊断判断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代码层前置安全分诊，不进入检索链路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906000" y="4635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MedBench 证据边界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906000" y="5016500"/>
            <a:ext cx="5588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LLM 330 题 EI 率 </a:t>
            </a:r>
            <a:r>
              <a:rPr lang="en-US" sz="14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84.85%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VLM 35B 300 题 EI 率 </a:t>
            </a: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4.33%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VLM 9B 300 题 EI 率 </a:t>
            </a: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8.33%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62000" y="6413500"/>
            <a:ext cx="14732000" cy="16510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016000" y="65405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视觉通道的价值超过模型规模的价值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——从纯文本到 VLM 9B 的 EI 降幅（84.85%→8.33%）远大于 9B 到 35B 的进一步降幅（8.33%→4.33%）。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84.85% 不是系统失败——它代表了</a:t>
            </a:r>
            <a:r>
              <a:rPr lang="en-US" sz="16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诚实的边界检测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。相比在所有问题上都给出看似合理但实际无支撑的答案，在超出边界的查询上透明拒答的系统提供了更高的安全性保证。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§5.6-5.8、§6.2 · 图 5.8 · DATA-TRACE #35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10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MedBench 630 题全量自评——零推理错误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206500"/>
            <a:ext cx="14732000" cy="1143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16000" y="1270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330</a:t>
            </a:r>
            <a:r>
              <a:rPr lang="en-US" sz="1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/ 330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16000" y="1905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LLM 子集全量回答 · 零错误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4826000" y="1270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300</a:t>
            </a:r>
            <a:r>
              <a:rPr lang="en-US" sz="1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/ 300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4826000" y="1905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VLM 35B 全量回答 · 零错误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36000" y="1270000"/>
            <a:ext cx="330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300</a:t>
            </a:r>
            <a:r>
              <a:rPr lang="en-US" sz="1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/ 300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36000" y="1905000"/>
            <a:ext cx="3302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VLM 9B 全量回答 · 零错误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446000" y="1270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36/36</a:t>
            </a:r>
            <a:endParaRPr lang="en-US" sz="4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446000" y="1905000"/>
            <a:ext cx="2794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子集 100% 检索覆盖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62000" y="26035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LLM 子集 vs VLM 子集：证据模态决定可回答性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7650838"/>
              </p:ext>
            </p:extLst>
          </p:nvPr>
        </p:nvGraphicFramePr>
        <p:xfrm>
          <a:off x="762000" y="2984500"/>
          <a:ext cx="14732000" cy="2540000"/>
        </p:xfrm>
        <a:graphic>
          <a:graphicData uri="http://schemas.openxmlformats.org/drawingml/2006/table">
            <a:tbl>
              <a:tblPr/>
              <a:tblGrid>
                <a:gridCol w="324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15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维度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LLM 子集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VLM 35B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VLM 9B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检索模式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零 EI 子集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总耗时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子集数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总题数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330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300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300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Evidence-insufficient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280 (84.85%)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13 (4.33%)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25 (8.33%)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text FAISS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0/7 · 7/10 · 5/10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~60m · 44m · 22m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推理错误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762000" y="5842000"/>
            <a:ext cx="14732000" cy="11430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016000" y="59690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视觉通道 &gt; 模型规模</a:t>
            </a:r>
            <a:r>
              <a:rPr lang="en-US" sz="16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——这不是测模型，是测证据模态对可回答性的影响。9B 在 VLM 场景下零错误、零空输出，与其在 LLM 子集上 MedExam 15/15 空输出形成鲜明对比——同一模型的失败面是任务类型敏感的。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§5.6-5.8 · DATA-TRACE #16、#20-22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11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p14="http://schemas.microsoft.com/office/powerpoint/2010/main" xmlns:a16="http://schemas.microsoft.com/office/drawing/2014/main"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不是只能跑 Demo——是可以部署到医院内网的证据服务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62000" y="1270000"/>
            <a:ext cx="4572000" cy="3937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016000" y="14986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7461" y="94139"/>
                </a:moveTo>
                <a:cubicBezTo>
                  <a:pt x="-2461" y="84217"/>
                  <a:pt x="-2461" y="68104"/>
                  <a:pt x="7461" y="58182"/>
                </a:cubicBezTo>
                <a:cubicBezTo>
                  <a:pt x="17383" y="48260"/>
                  <a:pt x="33496" y="48260"/>
                  <a:pt x="43418" y="58182"/>
                </a:cubicBezTo>
                <a:lnTo>
                  <a:pt x="170418" y="185182"/>
                </a:lnTo>
                <a:cubicBezTo>
                  <a:pt x="180340" y="195104"/>
                  <a:pt x="180340" y="211217"/>
                  <a:pt x="170418" y="221139"/>
                </a:cubicBezTo>
                <a:lnTo>
                  <a:pt x="43418" y="348139"/>
                </a:lnTo>
                <a:cubicBezTo>
                  <a:pt x="33496" y="358061"/>
                  <a:pt x="17383" y="358061"/>
                  <a:pt x="7461" y="348139"/>
                </a:cubicBezTo>
                <a:cubicBezTo>
                  <a:pt x="-2461" y="338217"/>
                  <a:pt x="-2461" y="322104"/>
                  <a:pt x="7461" y="312182"/>
                </a:cubicBezTo>
                <a:lnTo>
                  <a:pt x="116443" y="203200"/>
                </a:lnTo>
                <a:lnTo>
                  <a:pt x="7461" y="94139"/>
                </a:lnTo>
                <a:close/>
                <a:moveTo>
                  <a:pt x="177800" y="304800"/>
                </a:moveTo>
                <a:lnTo>
                  <a:pt x="381000" y="304800"/>
                </a:lnTo>
                <a:cubicBezTo>
                  <a:pt x="395049" y="304800"/>
                  <a:pt x="406400" y="316151"/>
                  <a:pt x="406400" y="330200"/>
                </a:cubicBezTo>
                <a:cubicBezTo>
                  <a:pt x="406400" y="344249"/>
                  <a:pt x="395049" y="355600"/>
                  <a:pt x="381000" y="355600"/>
                </a:cubicBezTo>
                <a:lnTo>
                  <a:pt x="177800" y="355600"/>
                </a:lnTo>
                <a:cubicBezTo>
                  <a:pt x="163751" y="355600"/>
                  <a:pt x="152400" y="344249"/>
                  <a:pt x="152400" y="330200"/>
                </a:cubicBezTo>
                <a:cubicBezTo>
                  <a:pt x="152400" y="316151"/>
                  <a:pt x="163751" y="304800"/>
                  <a:pt x="177800" y="304800"/>
                </a:cubicBezTo>
                <a:close/>
              </a:path>
            </a:pathLst>
          </a:cu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49400" y="14986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CLI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16000" y="2032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数据集构建者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16000" y="2413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track3 eval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--case-set zh_ask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索引完整性检查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中文 Ask trace 复核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claim support 验证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一键验收入口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715000" y="1270000"/>
            <a:ext cx="4572000" cy="3937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94400" y="1498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50800" y="25400"/>
                </a:moveTo>
                <a:cubicBezTo>
                  <a:pt x="22781" y="25400"/>
                  <a:pt x="0" y="48181"/>
                  <a:pt x="0" y="76200"/>
                </a:cubicBezTo>
                <a:lnTo>
                  <a:pt x="0" y="127000"/>
                </a:lnTo>
                <a:cubicBezTo>
                  <a:pt x="0" y="155019"/>
                  <a:pt x="22781" y="177800"/>
                  <a:pt x="50800" y="177800"/>
                </a:cubicBezTo>
                <a:lnTo>
                  <a:pt x="304800" y="177800"/>
                </a:lnTo>
                <a:cubicBezTo>
                  <a:pt x="332819" y="177800"/>
                  <a:pt x="355600" y="155019"/>
                  <a:pt x="355600" y="127000"/>
                </a:cubicBezTo>
                <a:lnTo>
                  <a:pt x="355600" y="76200"/>
                </a:lnTo>
                <a:cubicBezTo>
                  <a:pt x="355600" y="48181"/>
                  <a:pt x="332819" y="25400"/>
                  <a:pt x="304800" y="25400"/>
                </a:cubicBezTo>
                <a:lnTo>
                  <a:pt x="50800" y="25400"/>
                </a:lnTo>
                <a:close/>
                <a:moveTo>
                  <a:pt x="222250" y="82550"/>
                </a:moveTo>
                <a:cubicBezTo>
                  <a:pt x="232764" y="82550"/>
                  <a:pt x="241300" y="91086"/>
                  <a:pt x="241300" y="101600"/>
                </a:cubicBezTo>
                <a:cubicBezTo>
                  <a:pt x="241300" y="112114"/>
                  <a:pt x="232764" y="120650"/>
                  <a:pt x="222250" y="120650"/>
                </a:cubicBezTo>
                <a:cubicBezTo>
                  <a:pt x="211736" y="120650"/>
                  <a:pt x="203200" y="112114"/>
                  <a:pt x="203200" y="101600"/>
                </a:cubicBezTo>
                <a:cubicBezTo>
                  <a:pt x="203200" y="91086"/>
                  <a:pt x="211736" y="82550"/>
                  <a:pt x="222250" y="82550"/>
                </a:cubicBezTo>
                <a:close/>
                <a:moveTo>
                  <a:pt x="266700" y="101600"/>
                </a:moveTo>
                <a:cubicBezTo>
                  <a:pt x="266700" y="91086"/>
                  <a:pt x="275236" y="82550"/>
                  <a:pt x="285750" y="82550"/>
                </a:cubicBezTo>
                <a:cubicBezTo>
                  <a:pt x="296264" y="82550"/>
                  <a:pt x="304800" y="91086"/>
                  <a:pt x="304800" y="101600"/>
                </a:cubicBezTo>
                <a:cubicBezTo>
                  <a:pt x="304800" y="112114"/>
                  <a:pt x="296264" y="120650"/>
                  <a:pt x="285750" y="120650"/>
                </a:cubicBezTo>
                <a:cubicBezTo>
                  <a:pt x="275236" y="120650"/>
                  <a:pt x="266700" y="112114"/>
                  <a:pt x="266700" y="101600"/>
                </a:cubicBezTo>
                <a:close/>
                <a:moveTo>
                  <a:pt x="50800" y="228600"/>
                </a:moveTo>
                <a:cubicBezTo>
                  <a:pt x="22781" y="228600"/>
                  <a:pt x="0" y="251381"/>
                  <a:pt x="0" y="279400"/>
                </a:cubicBezTo>
                <a:lnTo>
                  <a:pt x="0" y="330200"/>
                </a:lnTo>
                <a:cubicBezTo>
                  <a:pt x="0" y="358219"/>
                  <a:pt x="22781" y="381000"/>
                  <a:pt x="50800" y="381000"/>
                </a:cubicBezTo>
                <a:lnTo>
                  <a:pt x="304800" y="381000"/>
                </a:lnTo>
                <a:cubicBezTo>
                  <a:pt x="332819" y="381000"/>
                  <a:pt x="355600" y="358219"/>
                  <a:pt x="355600" y="330200"/>
                </a:cubicBezTo>
                <a:lnTo>
                  <a:pt x="355600" y="279400"/>
                </a:lnTo>
                <a:cubicBezTo>
                  <a:pt x="355600" y="251381"/>
                  <a:pt x="332819" y="228600"/>
                  <a:pt x="304800" y="228600"/>
                </a:cubicBezTo>
                <a:lnTo>
                  <a:pt x="50800" y="228600"/>
                </a:lnTo>
                <a:close/>
                <a:moveTo>
                  <a:pt x="222250" y="285750"/>
                </a:moveTo>
                <a:cubicBezTo>
                  <a:pt x="232764" y="285750"/>
                  <a:pt x="241300" y="294286"/>
                  <a:pt x="241300" y="304800"/>
                </a:cubicBezTo>
                <a:cubicBezTo>
                  <a:pt x="241300" y="315314"/>
                  <a:pt x="232764" y="323850"/>
                  <a:pt x="222250" y="323850"/>
                </a:cubicBezTo>
                <a:cubicBezTo>
                  <a:pt x="211736" y="323850"/>
                  <a:pt x="203200" y="315314"/>
                  <a:pt x="203200" y="304800"/>
                </a:cubicBezTo>
                <a:cubicBezTo>
                  <a:pt x="203200" y="294286"/>
                  <a:pt x="211736" y="285750"/>
                  <a:pt x="222250" y="285750"/>
                </a:cubicBezTo>
                <a:close/>
                <a:moveTo>
                  <a:pt x="266700" y="304800"/>
                </a:moveTo>
                <a:cubicBezTo>
                  <a:pt x="266700" y="294286"/>
                  <a:pt x="275236" y="285750"/>
                  <a:pt x="285750" y="285750"/>
                </a:cubicBezTo>
                <a:cubicBezTo>
                  <a:pt x="296264" y="285750"/>
                  <a:pt x="304800" y="294286"/>
                  <a:pt x="304800" y="304800"/>
                </a:cubicBezTo>
                <a:cubicBezTo>
                  <a:pt x="304800" y="315314"/>
                  <a:pt x="296264" y="323850"/>
                  <a:pt x="285750" y="323850"/>
                </a:cubicBezTo>
                <a:cubicBezTo>
                  <a:pt x="275236" y="323850"/>
                  <a:pt x="266700" y="315314"/>
                  <a:pt x="266700" y="304800"/>
                </a:cubicBezTo>
                <a:close/>
              </a:path>
            </a:pathLst>
          </a:cu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502400" y="14986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REST API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69000" y="2032000"/>
            <a:ext cx="406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系统集成者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69000" y="24130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4 端点验证通过：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/evidence/search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/evidence/synthesize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/evidence/report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/health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uvicorn 独立部署 8001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668000" y="1270000"/>
            <a:ext cx="4826000" cy="3937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0871200" y="1498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77733" y="187563"/>
                </a:moveTo>
                <a:lnTo>
                  <a:pt x="225266" y="187563"/>
                </a:lnTo>
                <a:lnTo>
                  <a:pt x="225266" y="140414"/>
                </a:lnTo>
                <a:lnTo>
                  <a:pt x="277733" y="140414"/>
                </a:lnTo>
                <a:lnTo>
                  <a:pt x="277733" y="187563"/>
                </a:lnTo>
                <a:close/>
                <a:moveTo>
                  <a:pt x="277733" y="25400"/>
                </a:moveTo>
                <a:lnTo>
                  <a:pt x="225266" y="25400"/>
                </a:lnTo>
                <a:lnTo>
                  <a:pt x="225266" y="73581"/>
                </a:lnTo>
                <a:lnTo>
                  <a:pt x="277733" y="73581"/>
                </a:lnTo>
                <a:lnTo>
                  <a:pt x="277733" y="25400"/>
                </a:lnTo>
                <a:close/>
                <a:moveTo>
                  <a:pt x="339804" y="140335"/>
                </a:moveTo>
                <a:lnTo>
                  <a:pt x="287338" y="140335"/>
                </a:lnTo>
                <a:lnTo>
                  <a:pt x="287338" y="187484"/>
                </a:lnTo>
                <a:lnTo>
                  <a:pt x="339804" y="187484"/>
                </a:lnTo>
                <a:lnTo>
                  <a:pt x="339804" y="140335"/>
                </a:lnTo>
                <a:close/>
                <a:moveTo>
                  <a:pt x="215741" y="83106"/>
                </a:moveTo>
                <a:lnTo>
                  <a:pt x="163274" y="83106"/>
                </a:lnTo>
                <a:lnTo>
                  <a:pt x="163274" y="130810"/>
                </a:lnTo>
                <a:lnTo>
                  <a:pt x="215741" y="130810"/>
                </a:lnTo>
                <a:lnTo>
                  <a:pt x="215741" y="83106"/>
                </a:lnTo>
                <a:close/>
                <a:moveTo>
                  <a:pt x="277733" y="83106"/>
                </a:moveTo>
                <a:lnTo>
                  <a:pt x="225266" y="83106"/>
                </a:lnTo>
                <a:lnTo>
                  <a:pt x="225266" y="130810"/>
                </a:lnTo>
                <a:lnTo>
                  <a:pt x="277733" y="130810"/>
                </a:lnTo>
                <a:lnTo>
                  <a:pt x="277733" y="83106"/>
                </a:lnTo>
                <a:close/>
                <a:moveTo>
                  <a:pt x="497443" y="162481"/>
                </a:moveTo>
                <a:cubicBezTo>
                  <a:pt x="486013" y="154781"/>
                  <a:pt x="459661" y="152003"/>
                  <a:pt x="439420" y="155813"/>
                </a:cubicBezTo>
                <a:cubicBezTo>
                  <a:pt x="436801" y="136763"/>
                  <a:pt x="426164" y="120174"/>
                  <a:pt x="406797" y="105251"/>
                </a:cubicBezTo>
                <a:lnTo>
                  <a:pt x="395684" y="97869"/>
                </a:lnTo>
                <a:lnTo>
                  <a:pt x="388303" y="108982"/>
                </a:lnTo>
                <a:cubicBezTo>
                  <a:pt x="373698" y="131048"/>
                  <a:pt x="369729" y="167402"/>
                  <a:pt x="385366" y="191373"/>
                </a:cubicBezTo>
                <a:cubicBezTo>
                  <a:pt x="378460" y="195104"/>
                  <a:pt x="364887" y="200184"/>
                  <a:pt x="346948" y="199866"/>
                </a:cubicBezTo>
                <a:lnTo>
                  <a:pt x="1905" y="199866"/>
                </a:lnTo>
                <a:cubicBezTo>
                  <a:pt x="-5001" y="240189"/>
                  <a:pt x="6509" y="292576"/>
                  <a:pt x="36830" y="328533"/>
                </a:cubicBezTo>
                <a:cubicBezTo>
                  <a:pt x="66278" y="363379"/>
                  <a:pt x="110411" y="381079"/>
                  <a:pt x="168116" y="381079"/>
                </a:cubicBezTo>
                <a:cubicBezTo>
                  <a:pt x="293053" y="381079"/>
                  <a:pt x="385524" y="323532"/>
                  <a:pt x="428784" y="218996"/>
                </a:cubicBezTo>
                <a:cubicBezTo>
                  <a:pt x="445770" y="219313"/>
                  <a:pt x="482441" y="219075"/>
                  <a:pt x="501253" y="183118"/>
                </a:cubicBezTo>
                <a:cubicBezTo>
                  <a:pt x="502444" y="181134"/>
                  <a:pt x="506492" y="172641"/>
                  <a:pt x="508000" y="169545"/>
                </a:cubicBezTo>
                <a:lnTo>
                  <a:pt x="497443" y="162481"/>
                </a:lnTo>
                <a:close/>
                <a:moveTo>
                  <a:pt x="91757" y="140335"/>
                </a:moveTo>
                <a:lnTo>
                  <a:pt x="39370" y="140335"/>
                </a:lnTo>
                <a:lnTo>
                  <a:pt x="39370" y="187484"/>
                </a:lnTo>
                <a:lnTo>
                  <a:pt x="91837" y="187484"/>
                </a:lnTo>
                <a:lnTo>
                  <a:pt x="91837" y="140335"/>
                </a:lnTo>
                <a:lnTo>
                  <a:pt x="91757" y="140335"/>
                </a:lnTo>
                <a:close/>
                <a:moveTo>
                  <a:pt x="153749" y="140335"/>
                </a:moveTo>
                <a:lnTo>
                  <a:pt x="101283" y="140335"/>
                </a:lnTo>
                <a:lnTo>
                  <a:pt x="101283" y="187484"/>
                </a:lnTo>
                <a:lnTo>
                  <a:pt x="153749" y="187484"/>
                </a:lnTo>
                <a:lnTo>
                  <a:pt x="153749" y="140335"/>
                </a:lnTo>
                <a:close/>
                <a:moveTo>
                  <a:pt x="215741" y="140335"/>
                </a:moveTo>
                <a:lnTo>
                  <a:pt x="163274" y="140335"/>
                </a:lnTo>
                <a:lnTo>
                  <a:pt x="163274" y="187484"/>
                </a:lnTo>
                <a:lnTo>
                  <a:pt x="215741" y="187484"/>
                </a:lnTo>
                <a:lnTo>
                  <a:pt x="215741" y="140335"/>
                </a:lnTo>
                <a:close/>
                <a:moveTo>
                  <a:pt x="153749" y="83106"/>
                </a:moveTo>
                <a:lnTo>
                  <a:pt x="101282" y="83106"/>
                </a:lnTo>
                <a:lnTo>
                  <a:pt x="101282" y="130810"/>
                </a:lnTo>
                <a:lnTo>
                  <a:pt x="153749" y="130810"/>
                </a:lnTo>
                <a:lnTo>
                  <a:pt x="153749" y="83106"/>
                </a:lnTo>
                <a:close/>
              </a:path>
            </a:pathLst>
          </a:cu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455400" y="14986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Docker Compose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922000" y="20320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运维部署者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22000" y="2413000"/>
            <a:ext cx="431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docker compose up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自动拉取嵌入模型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自动加载 FAISS 索引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无需装 Python / 配 conda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公开 PMC → 替换院内资料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2000" y="5524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延迟基准（RTX 5090）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05500"/>
          <a:ext cx="8890000" cy="1524000"/>
        </p:xfrm>
        <a:graphic>
          <a:graphicData uri="http://schemas.openxmlformats.org/drawingml/2006/table">
            <a:tbl>
              <a:tblPr/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环节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延迟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说明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4A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嵌入编码（query）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~50 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qwen3-embedding:4b 单条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FAISS + BM25 RRF 检索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2D4A3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 200 ms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含视觉通道并行后融合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35B 推理 + 检索端到端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B85C38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~6.1 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u="none" dirty="0">
                          <a:solidFill>
                            <a:srgbClr val="1C1C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检索 0.2s + 推理 5.87s</a:t>
                      </a:r>
                      <a:endParaRPr lang="en-US" sz="15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10160000" y="5524500"/>
            <a:ext cx="5334000" cy="21590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0414000" y="5651500"/>
            <a:ext cx="4826000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同构迁移路径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公开 PMC 文献验收通过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→ 替换数据目录为院内资料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→ 不改变接口，只切换数据源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→ 原文/chunk/索引/上下文留本地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§5.2-5.5 · DATA-TRACE #17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12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533400"/>
            <a:ext cx="50800" cy="3556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965200" y="482600"/>
            <a:ext cx="1397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控制科学 → 医学，同一套管道零代码迁移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32000" y="2286000"/>
            <a:ext cx="12192000" cy="38100"/>
          </a:xfrm>
          <a:prstGeom prst="rect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930400" y="2184400"/>
            <a:ext cx="228600" cy="228600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2667000"/>
            <a:ext cx="406400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52500" y="279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赛道一：控制科学语料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52500" y="3238500"/>
            <a:ext cx="368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362 篇文献解析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mineru-to-md 引擎极限测试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5 个故障驱动迭代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Agent 编排层 17 模块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QLoRA −53.6% PPL 改善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264400" y="2184400"/>
            <a:ext cx="228600" cy="228600"/>
          </a:xfrm>
          <a:prstGeom prst="ellipse">
            <a:avLst/>
          </a:prstGeom>
          <a:solidFill>
            <a:srgbClr val="2D4A3E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0" y="2667000"/>
            <a:ext cx="4064000" cy="2540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8EDE9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86500" y="279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赛道二：Agent 执行协议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286500" y="3238500"/>
            <a:ext cx="368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日志化执行步骤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跨模态对齐框架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14 源 Judge 矩阵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Embedding 审计框架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双模式 PPL 探针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2598400" y="2184400"/>
            <a:ext cx="228600" cy="228600"/>
          </a:xfrm>
          <a:prstGeom prst="ellipse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430000" y="2667000"/>
            <a:ext cx="4064000" cy="2540000"/>
          </a:xfrm>
          <a:prstGeom prst="roundRect">
            <a:avLst>
              <a:gd name="adj" fmla="val 2000"/>
            </a:avLst>
          </a:prstGeom>
          <a:solidFill>
            <a:srgbClr val="B85C38">
              <a:alpha val="3137"/>
            </a:srgbClr>
          </a:solidFill>
          <a:ln w="25400">
            <a:solidFill>
              <a:srgbClr val="B85C38"/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620500" y="2794000"/>
            <a:ext cx="368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赛道三：医学 RAG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620500" y="3238500"/>
            <a:ext cx="368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97 篇 PMC 零代码迁移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28 层级医学标签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QLoRA −47.0% PPL 改善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中文 Ask 跨语言链路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• MedBench 630 题零错误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62000" y="5588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2D4A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三个独立证据：同一套方法论在两个领域上连续验证</a:t>
            </a:r>
            <a:endParaRPr 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2000" y="5969000"/>
            <a:ext cx="14732000" cy="1651000"/>
          </a:xfrm>
          <a:prstGeom prst="roundRect">
            <a:avLst>
              <a:gd name="adj" fmla="val 2000"/>
            </a:avLst>
          </a:prstGeom>
          <a:solidFill>
            <a:srgbClr val="2D4A3E">
              <a:alpha val="3137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16000" y="6096000"/>
            <a:ext cx="1422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① 跨领域 PPL 一致性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控制科学 −53.6% vs 医学 −47.0%，两个独立领域落在同一 47-54% 区间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② 同一套 Embedding 审计框架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跨模态对齐框架从控制科学零修改迁移至医学文献质量审计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③ 同一套 Judge 矩阵</a:t>
            </a:r>
            <a:r>
              <a:rPr lang="en-US" sz="1500" dirty="0">
                <a:solidFill>
                  <a:srgbClr val="1C1C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 14 源评分矩阵方法论在两个领域独立部署，gemma3:4b 均以 CI=[1,1] 锁定首选 Judge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62000" y="7937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72/98 篇核心 PMC 论文天然使用控制理论方法——控制方法是医学文献中最广泛使用的数学工具之一。</a:t>
            </a:r>
            <a:endParaRPr 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62000" y="8826500"/>
            <a:ext cx="1016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详见报告 §6.1-6.2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732000" y="88265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13 / 14</a:t>
            </a:r>
            <a:endParaRPr lang="en-US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62000" y="8763000"/>
            <a:ext cx="14732000" cy="12700"/>
          </a:xfrm>
          <a:prstGeom prst="rect">
            <a:avLst/>
          </a:prstGeom>
          <a:solidFill>
            <a:srgbClr val="E8EDE9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hyp="http://schemas.microsoft.com/office/drawing/2018/hyperlinkcolor"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1016000" cy="50800"/>
          </a:xfrm>
          <a:prstGeom prst="rect">
            <a:avLst/>
          </a:prstGeom>
          <a:solidFill>
            <a:srgbClr val="B85C38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1"/>
          <p:cNvSpPr/>
          <p:nvPr/>
        </p:nvSpPr>
        <p:spPr>
          <a:xfrm>
            <a:off x="762000" y="1524000"/>
            <a:ext cx="8382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Sans" pitchFamily="34" charset="-120"/>
              </a:rPr>
              <a:t>ControlMind Clinical RAG</a:t>
            </a:r>
            <a:endParaRPr 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62000" y="2286000"/>
            <a:ext cx="762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本地优先的医学文献证据工作流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62000" y="2984500"/>
            <a:ext cx="2540000" cy="25400"/>
          </a:xfrm>
          <a:prstGeom prst="rect">
            <a:avLst/>
          </a:prstGeom>
          <a:solidFill>
            <a:srgbClr val="8A9A8C"/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3302000"/>
            <a:ext cx="787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交付物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97 篇 PMC 解析产物 (3,348 chunks)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FAISS 稠密 (33MB) + BM25 稀疏 (17MB) + 视觉索引 (7MB)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14 源 Judge 矩阵 (1,050 条评分) + MedBench 630 题自评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代码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MorningStar0709/control-sci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(CC-BY-4.0)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含医学 RAG 后端 · CLI · REST API · Docker Compose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5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自研 Skill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mineru</a:t>
            </a:r>
            <a:r>
              <a:rPr 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-to-md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80000"/>
              </a:lnSpc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同一引擎经 362 篇控制科学 + 97 篇医学文献双领域验证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398000" y="1524000"/>
            <a:ext cx="6096000" cy="4826000"/>
          </a:xfrm>
          <a:prstGeom prst="roundRect">
            <a:avLst>
              <a:gd name="adj" fmla="val 2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8235"/>
              </a:srgbClr>
            </a:solidFill>
            <a:prstDash val="solid"/>
          </a:ln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79000" y="1778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验证入口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9779000" y="22860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9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云端 Demo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</a:t>
            </a:r>
            <a:r>
              <a:rPr lang="en-US" sz="1500" u="sng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demo.askiler.com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访问码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ControlMind@2026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本地 CLI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controlmind track3 eval --case-set zh_ask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9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一键验收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.\run_reviewer_demo.ps1 -Track 3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79000" y="4953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B85C3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🏆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 Trae IDE 社区 · Community Star 活力之星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62000" y="8636000"/>
            <a:ext cx="14732000" cy="12700"/>
          </a:xfrm>
          <a:prstGeom prst="rect">
            <a:avLst/>
          </a:prstGeom>
          <a:solidFill>
            <a:srgbClr val="FFFFFF">
              <a:alpha val="12549"/>
            </a:srgbClr>
          </a:solidFill>
          <a:ln/>
        </p:spPr>
        <p:txBody>
          <a:bodyPr/>
          <a:lstStyle/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62000" y="87630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Citation — CC-BY-4.0 @misc{controlsciclinicalrag2026, author = {{MorningStar}}, year = {2026} }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732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9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Quattrocento Sans" pitchFamily="34" charset="-120"/>
              </a:rPr>
              <a:t>14 / 14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1521</Words>
  <Application>Microsoft Office PowerPoint</Application>
  <PresentationFormat>自定义</PresentationFormat>
  <Paragraphs>370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微软雅黑</vt:lpstr>
      <vt:lpstr>Arial</vt:lpstr>
      <vt:lpstr>QuattrocentoSans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ControlMind Clinical RAG — 本地优先的医学文献证据工作流</dc:title>
  <dc:subject>ControlMind Clinical RAG — 本地优先的医学文献证据工作流</dc:subject>
  <dc:creator>Kimi</dc:creator>
  <cp:lastModifiedBy>Morning Star</cp:lastModifiedBy>
  <cp:revision>5</cp:revision>
  <dcterms:created xsi:type="dcterms:W3CDTF">2026-05-19T14:22:39Z</dcterms:created>
  <dcterms:modified xsi:type="dcterms:W3CDTF">2026-05-20T04:20:07Z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{"Label":"ControlMind Clinical RAG — 本地优先的医学文献证据工作流","ContentProducer":"001191110108MACG2KBH8F10000","ProduceID":"19e409d1-d932-8bb6-8000-0000fdd6c12a","ReservedCode1":"","ContentPropagator":"001191110108MACG2KBH8F20000","PropagateID":"19e409d1-d932-8bb6-8000-0000fdd6c12a","ReservedCode2":""}</vt:lpwstr>
  </property>
</Properties>
</file>