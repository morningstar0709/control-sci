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9144000" cy="16256000"/>
  <p:embeddedFontLst>
    <p:embeddedFont>
      <p:font typeface="QuattrocentoSans" panose="020B0502050000020003" pitchFamily="34" charset="0"/>
      <p:regular r:id="rId17"/>
    </p:embeddedFont>
    <p:embeddedFont>
      <p:font typeface="微软雅黑" panose="020B0503020204020204" pitchFamily="34" charset="-122"/>
      <p:regular r:id="rId18"/>
      <p:bold r:id="rId19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MiMo-V2.5 (310B)</c:v>
                </c:pt>
              </c:strCache>
            </c:strRef>
          </c:tx>
          <c:spPr>
            <a:solidFill>
              <a:srgbClr val="2C3E5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归一化编辑距离↓</c:v>
                </c:pt>
                <c:pt idx="1">
                  <c:v>BLEU↑</c:v>
                </c:pt>
                <c:pt idx="2">
                  <c:v>字符匹配率↑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0.88739999999999997</c:v>
                </c:pt>
                <c:pt idx="1">
                  <c:v>4.2599999999999999E-2</c:v>
                </c:pt>
                <c:pt idx="2">
                  <c:v>1.5599999999999999E-2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2E-4925-A6D4-895E89D8D85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MinerU 1.2B VLM</c:v>
                </c:pt>
              </c:strCache>
            </c:strRef>
          </c:tx>
          <c:spPr>
            <a:solidFill>
              <a:srgbClr val="B8733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归一化编辑距离↓</c:v>
                </c:pt>
                <c:pt idx="1">
                  <c:v>BLEU↑</c:v>
                </c:pt>
                <c:pt idx="2">
                  <c:v>字符匹配率↑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0.9123</c:v>
                </c:pt>
                <c:pt idx="1">
                  <c:v>3.2300000000000002E-2</c:v>
                </c:pt>
                <c:pt idx="2">
                  <c:v>2.1600000000000001E-2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22E-4925-A6D4-895E89D8D85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4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4163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23000" y="3937000"/>
            <a:ext cx="3810000" cy="38100"/>
          </a:xfrm>
          <a:prstGeom prst="rect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778000" y="2286000"/>
            <a:ext cx="1270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ControlMind Data Agent</a:t>
            </a:r>
            <a:endParaRPr 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048000" y="419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E8E4D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科学文档处理的可审计执行协议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588000" y="5080000"/>
            <a:ext cx="5080000" cy="12700"/>
          </a:xfrm>
          <a:prstGeom prst="rect">
            <a:avLst/>
          </a:prstGeom>
          <a:solidFill>
            <a:srgbClr val="7F8C8D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3048000" y="5334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Track 2 · 智能进化：Agent 能力评测赛道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3048000" y="5816600"/>
            <a:ext cx="1016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2026 MinerU 数据智能与前沿语料挑战赛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p14="http://schemas.microsoft.com/office/powerpoint/2010/main"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62000" y="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ControlMind Data Agent · 系统概述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难点不是一次模型调用——是一条 7 步链路每步都有决策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62000" y="1651000"/>
            <a:ext cx="1905000" cy="1143000"/>
          </a:xfrm>
          <a:prstGeom prst="rect">
            <a:avLst/>
          </a:prstGeom>
          <a:solidFill>
            <a:srgbClr val="E8E4DE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5500" y="1714500"/>
            <a:ext cx="177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文献检索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人工 ~40h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Agent 自动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667000" y="2159000"/>
            <a:ext cx="317500" cy="0"/>
          </a:xfrm>
          <a:prstGeom prst="straightConnector1">
            <a:avLst/>
          </a:prstGeom>
          <a:noFill/>
          <a:ln w="25400">
            <a:solidFill>
              <a:srgbClr val="7F8C8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984500" y="1651000"/>
            <a:ext cx="1905000" cy="1143000"/>
          </a:xfrm>
          <a:prstGeom prst="rect">
            <a:avLst/>
          </a:prstGeom>
          <a:solidFill>
            <a:srgbClr val="E8E4DE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048000" y="1714500"/>
            <a:ext cx="177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文档解析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人工 ~120h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GPU 自动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89500" y="2159000"/>
            <a:ext cx="317500" cy="0"/>
          </a:xfrm>
          <a:prstGeom prst="straightConnector1">
            <a:avLst/>
          </a:prstGeom>
          <a:noFill/>
          <a:ln w="25400">
            <a:solidFill>
              <a:srgbClr val="7F8C8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207000" y="1651000"/>
            <a:ext cx="1905000" cy="1143000"/>
          </a:xfrm>
          <a:prstGeom prst="rect">
            <a:avLst/>
          </a:prstGeom>
          <a:solidFill>
            <a:srgbClr val="E8E4DE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70500" y="1714500"/>
            <a:ext cx="177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质量审计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人工 ~250h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MiMo 自动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112000" y="2159000"/>
            <a:ext cx="317500" cy="0"/>
          </a:xfrm>
          <a:prstGeom prst="straightConnector1">
            <a:avLst/>
          </a:prstGeom>
          <a:noFill/>
          <a:ln w="25400">
            <a:solidFill>
              <a:srgbClr val="7F8C8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29500" y="1651000"/>
            <a:ext cx="1905000" cy="1143000"/>
          </a:xfrm>
          <a:prstGeom prst="rect">
            <a:avLst/>
          </a:prstGeom>
          <a:solidFill>
            <a:srgbClr val="E8E4DE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93000" y="1714500"/>
            <a:ext cx="177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题目生成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人工 ~80h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三 Provider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334500" y="2159000"/>
            <a:ext cx="317500" cy="0"/>
          </a:xfrm>
          <a:prstGeom prst="straightConnector1">
            <a:avLst/>
          </a:prstGeom>
          <a:noFill/>
          <a:ln w="25400">
            <a:solidFill>
              <a:srgbClr val="7F8C8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652000" y="1651000"/>
            <a:ext cx="1905000" cy="1143000"/>
          </a:xfrm>
          <a:prstGeom prst="rect">
            <a:avLst/>
          </a:prstGeom>
          <a:solidFill>
            <a:srgbClr val="E8E4DE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715500" y="1714500"/>
            <a:ext cx="177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评测执行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人工 ~60h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LLM Judge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1557000" y="2159000"/>
            <a:ext cx="317500" cy="0"/>
          </a:xfrm>
          <a:prstGeom prst="straightConnector1">
            <a:avLst/>
          </a:prstGeom>
          <a:noFill/>
          <a:ln w="25400">
            <a:solidFill>
              <a:srgbClr val="7F8C8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1874500" y="1651000"/>
            <a:ext cx="1905000" cy="1143000"/>
          </a:xfrm>
          <a:prstGeom prst="rect">
            <a:avLst/>
          </a:prstGeom>
          <a:solidFill>
            <a:srgbClr val="E8E4DE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938000" y="1714500"/>
            <a:ext cx="177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排行榜更新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人工 ~8h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Agent 自动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3779500" y="2159000"/>
            <a:ext cx="317500" cy="0"/>
          </a:xfrm>
          <a:prstGeom prst="straightConnector1">
            <a:avLst/>
          </a:prstGeom>
          <a:noFill/>
          <a:ln w="25400">
            <a:solidFill>
              <a:srgbClr val="7F8C8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4097000" y="1651000"/>
            <a:ext cx="1651000" cy="1143000"/>
          </a:xfrm>
          <a:prstGeom prst="rect">
            <a:avLst/>
          </a:prstGeom>
          <a:solidFill>
            <a:srgbClr val="E8E4DE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4160500" y="1714500"/>
            <a:ext cx="15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领域迁移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人工翻倍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零代码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62000" y="3175000"/>
            <a:ext cx="5080000" cy="120650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52500" y="3238500"/>
            <a:ext cx="4699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传统人工累计 </a:t>
            </a:r>
            <a:r>
              <a:rPr lang="en-US" sz="3200" b="1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~558</a:t>
            </a: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 工时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4D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≈ 全职研究助理连续工作 14 周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350000" y="3175000"/>
            <a:ext cx="914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Agent 将 7 个环节的决策从</a:t>
            </a:r>
            <a:r>
              <a:rPr lang="en-US" sz="16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"人工判断"</a:t>
            </a:r>
            <a:r>
              <a:rPr lang="en-US" sz="16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变成</a:t>
            </a:r>
            <a:r>
              <a:rPr lang="en-US" sz="16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"可日志化的自动选择"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每个 Intent 携带 data_policy，执行选择结构化落盘，可审计、可回放、可复核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62000" y="4572000"/>
            <a:ext cx="14732000" cy="12700"/>
          </a:xfrm>
          <a:prstGeom prst="rect">
            <a:avLst/>
          </a:prstGeom>
          <a:solidFill>
            <a:srgbClr val="D0CBC4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62000" y="4826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语料规模：Agent 能力的产出证明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7383856"/>
              </p:ext>
            </p:extLst>
          </p:nvPr>
        </p:nvGraphicFramePr>
        <p:xfrm>
          <a:off x="762000" y="5334000"/>
          <a:ext cx="14732000" cy="2438400"/>
        </p:xfrm>
        <a:graphic>
          <a:graphicData uri="http://schemas.openxmlformats.org/drawingml/2006/table">
            <a:tbl>
              <a:tblPr/>
              <a:tblGrid>
                <a:gridCol w="294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5954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指标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文档总数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Chunk 数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公式总数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共现 Chunk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541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数值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362 (教材23+arXiv339)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28,514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253,012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4,996 (17.52%)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702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覆盖领域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PID控制、估计与定位、导航制导、控制理论、数字控制、智能控制、最优控制、现代控制、线性系统、经典控制、自抗扰控制、自适应控制、非线性控制、鲁棒控制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762000" y="8001000"/>
            <a:ext cx="14732000" cy="508000"/>
          </a:xfrm>
          <a:prstGeom prst="rect">
            <a:avLst/>
          </a:prstGeom>
          <a:solidFill>
            <a:srgbClr val="2C3E50">
              <a:alpha val="8235"/>
            </a:srgbClr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952500" y="8001000"/>
            <a:ext cx="1435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零代码迁移至医学</a:t>
            </a:r>
            <a:r>
              <a:rPr lang="en-US" sz="15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：97 篇 PMC 文献 · 17 核心模块零改动 · 同一 Agent 框架跨领域复用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762000" y="87884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详见报告 §1.1-1.3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15240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02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62000" y="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ControlMind Data Agent · 系统架构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这套架构不是脚本的串联——是执行协议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Image 0" descr="https://kimi-img.moonshot.cn/pub/slides/okc/hb5ruaynd6jcq/mnt/agents/output/controlmind_agent/images/system_architecture.png"/>
          <p:cNvPicPr>
            <a:picLocks noChangeAspect="1"/>
          </p:cNvPicPr>
          <p:nvPr/>
        </p:nvPicPr>
        <p:blipFill>
          <a:blip r:embed="rId3"/>
          <a:srcRect l="-644" r="-644"/>
          <a:stretch/>
        </p:blipFill>
        <p:spPr>
          <a:xfrm>
            <a:off x="762000" y="1397000"/>
            <a:ext cx="9144000" cy="5080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287000" y="1460500"/>
            <a:ext cx="50800" cy="889000"/>
          </a:xfrm>
          <a:prstGeom prst="rect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464800" y="1460500"/>
            <a:ext cx="508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① Intent Router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将"检索最新 MPC 论文并更新排行榜"拆成 6 步 Intent 链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0287000" y="2540000"/>
            <a:ext cx="50800" cy="889000"/>
          </a:xfrm>
          <a:prstGeom prst="rect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464800" y="2540000"/>
            <a:ext cx="508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② ResourceScheduler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看到 medical_rag 时强制路由到本地 Ollama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0287000" y="3619500"/>
            <a:ext cx="50800" cy="889000"/>
          </a:xfrm>
          <a:prstGeom prst="rect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464800" y="3619500"/>
            <a:ext cx="508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③ Executor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调用 MinerU / Ollama / API 三条路径执行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0287000" y="4699000"/>
            <a:ext cx="50800" cy="889000"/>
          </a:xfrm>
          <a:prstGeom prst="rect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0464800" y="4699000"/>
            <a:ext cx="508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④ Verifier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检测到 Ollama 502 时 62ms 内降级到 Script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62000" y="6731000"/>
            <a:ext cx="14732000" cy="1651000"/>
          </a:xfrm>
          <a:prstGeom prst="rect">
            <a:avLst/>
          </a:prstGeom>
          <a:solidFill>
            <a:srgbClr val="E8E4DE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16000" y="6858000"/>
            <a:ext cx="1422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核心设计</a:t>
            </a:r>
            <a:r>
              <a:rPr lang="en-US" sz="15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：自然语言任务 → Intent Router 解析为意图链 → ResourceScheduler 按 </a:t>
            </a:r>
            <a:r>
              <a:rPr lang="en-US" sz="1500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data_policy</a:t>
            </a:r>
            <a:r>
              <a:rPr lang="en-US" sz="15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 分配 Provider →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Executor 执行 → Verifier 判过 → 每一步选择都落在结构化日志（LogStep）上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14 个 Intent 覆盖检索→解析→审计→评测→报告全链路，均在 dispatch_map 注册，8 维度验收全通过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62000" y="87884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详见报告 §1.2、§3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5240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03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62000" y="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ControlMind Data Agent · 执行协议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Pipeline 只写死流程，Agent 在约束内决定下一步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Image 0" descr="https://kimi-img.moonshot.cn/pub/slides/okc/hb5ruaynd6jcq/mnt/agents/output/controlmind_agent/images/agent_execution_protocol.png"/>
          <p:cNvPicPr>
            <a:picLocks noChangeAspect="1"/>
          </p:cNvPicPr>
          <p:nvPr/>
        </p:nvPicPr>
        <p:blipFill>
          <a:blip r:embed="rId3"/>
          <a:srcRect l="-1541" r="-1541"/>
          <a:stretch/>
        </p:blipFill>
        <p:spPr>
          <a:xfrm>
            <a:off x="762000" y="1397000"/>
            <a:ext cx="8382000" cy="4572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525000" y="1397000"/>
            <a:ext cx="5969000" cy="2159000"/>
          </a:xfrm>
          <a:prstGeom prst="rect">
            <a:avLst/>
          </a:prstGeom>
          <a:solidFill>
            <a:srgbClr val="E8E4DE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Shape 5"/>
          <p:cNvSpPr/>
          <p:nvPr/>
        </p:nvSpPr>
        <p:spPr>
          <a:xfrm>
            <a:off x="9525000" y="1397000"/>
            <a:ext cx="50800" cy="2159000"/>
          </a:xfrm>
          <a:prstGeom prst="rect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9779000" y="1498600"/>
            <a:ext cx="55245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案例 ① D 数据飞轮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800" b="1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391s</a:t>
            </a:r>
            <a:r>
              <a:rPr lang="en-US" sz="14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 完成 6 步闭环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arXiv 检索 → MinerU 解析 → 出题 → 仲裁 → 评测 → 排行榜更新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5 篇论文 → 15 题 → 排行榜 500→515 题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525000" y="3810000"/>
            <a:ext cx="5969000" cy="2159000"/>
          </a:xfrm>
          <a:prstGeom prst="rect">
            <a:avLst/>
          </a:prstGeom>
          <a:solidFill>
            <a:srgbClr val="E8E4DE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9525000" y="3810000"/>
            <a:ext cx="50800" cy="215900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779000" y="3911600"/>
            <a:ext cx="55245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案例 ② 失败恢复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Ollama HTTP </a:t>
            </a:r>
            <a:r>
              <a:rPr lang="en-US" sz="24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502</a:t>
            </a:r>
            <a:r>
              <a:rPr lang="en-US" sz="14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 → </a:t>
            </a:r>
            <a:r>
              <a:rPr lang="en-US" sz="2400" b="1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62ms</a:t>
            </a:r>
            <a:r>
              <a:rPr lang="en-US" sz="14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 降级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Provider 层 HealthCheck 检测到不可用 → get_fallback() → script 降级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零数据丢失，真实故障驱动出的能力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62000" y="6223000"/>
            <a:ext cx="838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Execute → Verify → Decide（通过 / 重试 / 降级）闭环自修正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62000" y="68580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关键差异</a:t>
            </a:r>
            <a:r>
              <a:rPr lang="en-US" sz="15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：Pipeline 只记录"流程应该怎么走"，Agent 在协议内决定"当前条件下应该调用哪个工具、失败后如何恢复、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输出是否满足质量约束"——四类可审查事件：Intent Router / ResourceScheduler / Verifier / LogStep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62000" y="87884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详见报告 §3.5、§5.1-5.3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5240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04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p14="http://schemas.microsoft.com/office/powerpoint/2010/main"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62000" y="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ControlMind Data Agent · 四轨引擎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自动化不放松数据边界——四轨引擎的选择不是随机的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Image 0" descr="https://kimi-img.moonshot.cn/pub/slides/okc/hb5ruaynd6jcq/mnt/agents/output/controlmind_agent/images/agent_four_track_boundary.png"/>
          <p:cNvPicPr>
            <a:picLocks noChangeAspect="1"/>
          </p:cNvPicPr>
          <p:nvPr/>
        </p:nvPicPr>
        <p:blipFill>
          <a:blip r:embed="rId3"/>
          <a:srcRect l="-1772" r="-1772"/>
          <a:stretch/>
        </p:blipFill>
        <p:spPr>
          <a:xfrm>
            <a:off x="762000" y="1397000"/>
            <a:ext cx="8890000" cy="482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33000" y="1397000"/>
            <a:ext cx="546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data_policy 三级分类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033000" y="1905000"/>
            <a:ext cx="5461000" cy="762000"/>
          </a:xfrm>
          <a:prstGeom prst="rect">
            <a:avLst/>
          </a:prstGeom>
          <a:solidFill>
            <a:srgbClr val="E74C3C">
              <a:alpha val="8235"/>
            </a:srgbClr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210800" y="19685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E74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local_only</a:t>
            </a:r>
            <a:r>
              <a:rPr lang="en-US" sz="14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 · 固定本地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medical_rag、local_finetune — 隐私敏感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0033000" y="2794000"/>
            <a:ext cx="5461000" cy="762000"/>
          </a:xfrm>
          <a:prstGeom prst="rect">
            <a:avLst/>
          </a:prstGeom>
          <a:solidFill>
            <a:srgbClr val="F39C12">
              <a:alpha val="8235"/>
            </a:srgbClr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210800" y="28575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D689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data_class_dependent</a:t>
            </a:r>
            <a:r>
              <a:rPr lang="en-US" sz="14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 · 条件上云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mineru_parse、multi_format_parse — 显式授权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0033000" y="3683000"/>
            <a:ext cx="5461000" cy="762000"/>
          </a:xfrm>
          <a:prstGeom prst="rect">
            <a:avLst/>
          </a:prstGeom>
          <a:solidFill>
            <a:srgbClr val="27AE60">
              <a:alpha val="8235"/>
            </a:srgbClr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210800" y="37465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7AE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public_or_sanitized</a:t>
            </a:r>
            <a:r>
              <a:rPr lang="en-US" sz="14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 · 可上云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arxiv_search、benchmark_build — 公开/脱敏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0033000" y="4762500"/>
            <a:ext cx="5461000" cy="101600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210800" y="4826000"/>
            <a:ext cx="508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核心原则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默认本地，云端兜底，非必要不上云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477000"/>
          <a:ext cx="14732000" cy="1904999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7715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轨道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引擎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部署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适用任务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典型延迟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64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● API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DeepSeek v4-flash / MiMo-V2.5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远端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通用推理、视觉审计、Judge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~1-5s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64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980B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● Ollama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qwen3.5:4b/9b/35b / gemma3:4b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本地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隐私文档、离线评测、本地 Judge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46s/55s/128s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762000" y="87884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详见报告 §1.2（表 1.1）、§3.2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15240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05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p14="http://schemas.microsoft.com/office/powerpoint/2010/main"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62000" y="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ControlMind Data Agent · 多格式解析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五种格式，一种输出——下游不认识输入源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Image 0" descr="https://kimi-img.moonshot.cn/pub/slides/okc/hb5ruaynd6jcq/mnt/agents/output/controlmind_agent/images/multi_format_demo.png"/>
          <p:cNvPicPr>
            <a:picLocks noChangeAspect="1"/>
          </p:cNvPicPr>
          <p:nvPr/>
        </p:nvPicPr>
        <p:blipFill>
          <a:blip r:embed="rId3"/>
          <a:srcRect t="-1620" b="-1620"/>
          <a:stretch/>
        </p:blipFill>
        <p:spPr>
          <a:xfrm>
            <a:off x="762000" y="1397000"/>
            <a:ext cx="7620000" cy="431800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833718"/>
              </p:ext>
            </p:extLst>
          </p:nvPr>
        </p:nvGraphicFramePr>
        <p:xfrm>
          <a:off x="8763000" y="1397000"/>
          <a:ext cx="6731000" cy="4318000"/>
        </p:xfrm>
        <a:graphic>
          <a:graphicData uri="http://schemas.openxmlformats.org/drawingml/2006/table">
            <a:tbl>
              <a:tblPr/>
              <a:tblGrid>
                <a:gridCol w="1480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7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95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2428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格式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代表文档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产出 Chunk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产出公式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639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扫描版 PDF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Khalil《非线性系统》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7,482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28,473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639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PPTX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控制科学课件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63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189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639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DOCX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实验报告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48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127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639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XLSX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性能数据表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12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7F8C8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纯数据表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62000" y="6032500"/>
            <a:ext cx="14732000" cy="1016000"/>
          </a:xfrm>
          <a:prstGeom prst="rect">
            <a:avLst/>
          </a:prstGeom>
          <a:solidFill>
            <a:srgbClr val="E8E4DE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Shape 5"/>
          <p:cNvSpPr/>
          <p:nvPr/>
        </p:nvSpPr>
        <p:spPr>
          <a:xfrm>
            <a:off x="762000" y="6032500"/>
            <a:ext cx="50800" cy="1016000"/>
          </a:xfrm>
          <a:prstGeom prst="rect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016000" y="6096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核心洞察</a:t>
            </a:r>
            <a:r>
              <a:rPr lang="en-US" sz="16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：不是 MinerU 支持多了个后缀——是 Agent 面对的始终是同一输入格式（chunk 级 Markdown + LaTeX + 独立图片），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下游的 benchmark_build、cross_modal_audit、chunk_embedding_analysis 无需针对源格式做适配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62000" y="7366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跨模态对齐审计</a:t>
            </a:r>
            <a:r>
              <a:rPr lang="en-US" sz="15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：MiMo-V2.5 对 4,996 个图片-公式共现 chunk 全量审计，一致率 </a:t>
            </a:r>
            <a:r>
              <a:rPr lang="en-US" sz="1500" b="1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75.9%</a:t>
            </a:r>
            <a:r>
              <a:rPr lang="en-US" sz="15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，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综合对齐质量 </a:t>
            </a:r>
            <a:r>
              <a:rPr lang="en-US" sz="1500" b="1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79.3%</a:t>
            </a:r>
            <a:r>
              <a:rPr lang="en-US" sz="15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（MiniMax-VL 交叉验证），产出 9,207 条自动判决记录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62000" y="87884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详见报告 §2.2、§2.3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9"/>
          <p:cNvSpPr/>
          <p:nvPr/>
        </p:nvSpPr>
        <p:spPr>
          <a:xfrm>
            <a:off x="15240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06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p14="http://schemas.microsoft.com/office/powerpoint/2010/main" xmlns:c="http://schemas.openxmlformats.org/drawingml/2006/chart"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62000" y="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ControlMind Data Agent · 公式识别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1/258 的参数，字符匹配率反超——多轨设计的实证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02676732"/>
              </p:ext>
            </p:extLst>
          </p:nvPr>
        </p:nvGraphicFramePr>
        <p:xfrm>
          <a:off x="762000" y="1460500"/>
          <a:ext cx="7366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7" name="Image 0" descr="https://kimi-img.moonshot.cn/pub/slides/okc/hb5ruaynd6jcq/mnt/agents/output/controlmind_agent/images/mineru_1.2b_vs_mimo_formula.png"/>
          <p:cNvPicPr>
            <a:picLocks noChangeAspect="1"/>
          </p:cNvPicPr>
          <p:nvPr/>
        </p:nvPicPr>
        <p:blipFill>
          <a:blip r:embed="rId4"/>
          <a:srcRect t="-9138" b="-9138"/>
          <a:stretch/>
        </p:blipFill>
        <p:spPr>
          <a:xfrm>
            <a:off x="8509000" y="1460500"/>
            <a:ext cx="6985000" cy="3810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62000" y="5588000"/>
            <a:ext cx="14732000" cy="1270000"/>
          </a:xfrm>
          <a:prstGeom prst="rect">
            <a:avLst/>
          </a:prstGeom>
          <a:solidFill>
            <a:srgbClr val="E8E4DE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Shape 5"/>
          <p:cNvSpPr/>
          <p:nvPr/>
        </p:nvSpPr>
        <p:spPr>
          <a:xfrm>
            <a:off x="762000" y="5588000"/>
            <a:ext cx="50800" cy="1270000"/>
          </a:xfrm>
          <a:prstGeom prst="rect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016000" y="5651500"/>
            <a:ext cx="1422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核心发现</a:t>
            </a:r>
            <a:r>
              <a:rPr lang="en-US" sz="16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：MinerU 1.2B VLM（专用文档模型）在字符匹配率上以 </a:t>
            </a:r>
            <a:r>
              <a:rPr lang="en-US" sz="2200" b="1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0.0216</a:t>
            </a:r>
            <a:r>
              <a:rPr lang="en-US" sz="16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 超过 MiMo-V2.5（310B 通用模型）的 </a:t>
            </a:r>
            <a:r>
              <a:rPr lang="en-US" sz="22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0.0156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1/258 参数量的专用模型在字符级细节上更精确——通用视觉模型适合语义理解，专用文档模型适合格式敏感任务，四轨调度让两者互补协同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178447"/>
              </p:ext>
            </p:extLst>
          </p:nvPr>
        </p:nvGraphicFramePr>
        <p:xfrm>
          <a:off x="762000" y="7175500"/>
          <a:ext cx="14732000" cy="1143000"/>
        </p:xfrm>
        <a:graphic>
          <a:graphicData uri="http://schemas.openxmlformats.org/drawingml/2006/table">
            <a:tbl>
              <a:tblPr/>
              <a:tblGrid>
                <a:gridCol w="368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对比维度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MiMo-V2.5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MinerU 1.2B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胜者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参数量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310B MoE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1.2B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87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MinerU (字符匹配)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762000" y="87884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详见报告 §2.5 · DATA-TRACE #21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5240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07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62000" y="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ControlMind Data Agent · 反规模定律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反规模定律——模型越大，评分越严，不是越准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Image 0" descr="https://kimi-img.moonshot.cn/pub/slides/okc/hb5ruaynd6jcq/mnt/agents/output/controlmind_agent/images/judge_severity_vs_size.png"/>
          <p:cNvPicPr>
            <a:picLocks noChangeAspect="1"/>
          </p:cNvPicPr>
          <p:nvPr/>
        </p:nvPicPr>
        <p:blipFill>
          <a:blip r:embed="rId3"/>
          <a:srcRect l="-8799" r="-8799"/>
          <a:stretch/>
        </p:blipFill>
        <p:spPr>
          <a:xfrm>
            <a:off x="762000" y="1397000"/>
            <a:ext cx="7366000" cy="3556000"/>
          </a:xfrm>
          <a:prstGeom prst="rect">
            <a:avLst/>
          </a:prstGeom>
        </p:spPr>
      </p:pic>
      <p:pic>
        <p:nvPicPr>
          <p:cNvPr id="7" name="Image 1" descr="https://kimi-img.moonshot.cn/pub/slides/okc/hb5ruaynd6jcq/mnt/agents/output/controlmind_agent/images/judge_zero_score_rate.png"/>
          <p:cNvPicPr>
            <a:picLocks noChangeAspect="1"/>
          </p:cNvPicPr>
          <p:nvPr/>
        </p:nvPicPr>
        <p:blipFill>
          <a:blip r:embed="rId4"/>
          <a:srcRect t="-648" b="-648"/>
          <a:stretch/>
        </p:blipFill>
        <p:spPr>
          <a:xfrm>
            <a:off x="8382000" y="1397000"/>
            <a:ext cx="7112000" cy="3556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62000" y="5207000"/>
            <a:ext cx="14732000" cy="107950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5"/>
          <p:cNvSpPr/>
          <p:nvPr/>
        </p:nvSpPr>
        <p:spPr>
          <a:xfrm>
            <a:off x="1016000" y="5270500"/>
            <a:ext cx="1422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Gemma3:4b（4.4GB）评分均值 </a:t>
            </a:r>
            <a:r>
              <a:rPr lang="en-US" sz="2800" b="1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0.872</a:t>
            </a: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　vs　Qwen3.5:35b（23GB）评分均值 </a:t>
            </a:r>
            <a:r>
              <a:rPr lang="en-US" sz="2800" b="1" dirty="0">
                <a:solidFill>
                  <a:srgbClr val="E74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0.233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同一 Qwen 家族（2B→4B→9B→35B）严格度单调递增 · 零分率：Gemma 0% → Qwen 33.8%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Image 2" descr="https://kimi-img.moonshot.cn/pub/slides/okc/hb5ruaynd6jcq/mnt/agents/output/controlmind_agent/images/judge_spearman_heatmap.png"/>
          <p:cNvPicPr>
            <a:picLocks noChangeAspect="1"/>
          </p:cNvPicPr>
          <p:nvPr/>
        </p:nvPicPr>
        <p:blipFill>
          <a:blip r:embed="rId5"/>
          <a:srcRect l="-20154" r="-20154"/>
          <a:stretch/>
        </p:blipFill>
        <p:spPr>
          <a:xfrm>
            <a:off x="762000" y="6540500"/>
            <a:ext cx="6350000" cy="1778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93000" y="6540500"/>
            <a:ext cx="800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Spearman ρ = 0.230 ≈ Pearson r = 0.230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不一致来自</a:t>
            </a:r>
            <a:r>
              <a:rPr lang="en-US" sz="15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逻辑分歧</a:t>
            </a:r>
            <a:r>
              <a:rPr lang="en-US" sz="15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而非单纯尺度差异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跨架构配对出现负相关——分歧是真实判断差异，不是"某个 Judge 更严格"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工程含义：选择哪个模型做质检，决定了产线通过率和漏检率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7"/>
          <p:cNvSpPr/>
          <p:nvPr/>
        </p:nvSpPr>
        <p:spPr>
          <a:xfrm>
            <a:off x="762000" y="87884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详见报告 §4.2.2 · DATA-TRACE #22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5240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08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62000" y="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ControlMind Data Agent · 四层验证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评分不是随机的——四层验证锁定规律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62000" y="1460500"/>
            <a:ext cx="3492500" cy="1651000"/>
          </a:xfrm>
          <a:prstGeom prst="rect">
            <a:avLst/>
          </a:prstGeom>
          <a:solidFill>
            <a:srgbClr val="E8E4DE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3492500" cy="50800"/>
          </a:xfrm>
          <a:prstGeom prst="rect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625600"/>
            <a:ext cx="31877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L1 · 尺度 vs 逻辑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Spearman ≈ Pearson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ρ=0.230, r=0.230, Δ&lt;0.01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不一致来自逻辑分歧，非尺度平移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08500" y="1460500"/>
            <a:ext cx="3492500" cy="1651000"/>
          </a:xfrm>
          <a:prstGeom prst="rect">
            <a:avLst/>
          </a:prstGeom>
          <a:solidFill>
            <a:srgbClr val="E8E4DE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08500" y="1460500"/>
            <a:ext cx="3492500" cy="50800"/>
          </a:xfrm>
          <a:prstGeom prst="rect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60900" y="1625600"/>
            <a:ext cx="31877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L2 · 零分率梯度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零分率 ∝ 模型尺寸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Gemma 0% → Qwen 33.8%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大模型更频繁触发"完全不通过"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255000" y="1460500"/>
            <a:ext cx="3492500" cy="1651000"/>
          </a:xfrm>
          <a:prstGeom prst="rect">
            <a:avLst/>
          </a:prstGeom>
          <a:solidFill>
            <a:srgbClr val="E8E4DE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55000" y="1460500"/>
            <a:ext cx="3492500" cy="50800"/>
          </a:xfrm>
          <a:prstGeom prst="rect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407400" y="1625600"/>
            <a:ext cx="31877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L3 · API 共识对齐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Qwen4B 对齐度最高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Spearman ρ = 0.481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无本地 Judge 能逼近 API 专家集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2001500" y="1460500"/>
            <a:ext cx="3492500" cy="1651000"/>
          </a:xfrm>
          <a:prstGeom prst="rect">
            <a:avLst/>
          </a:prstGeom>
          <a:solidFill>
            <a:srgbClr val="E8E4DE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2001500" y="1460500"/>
            <a:ext cx="3492500" cy="50800"/>
          </a:xfrm>
          <a:prstGeom prst="rect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153900" y="1625600"/>
            <a:ext cx="31877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L4 · 领域偏差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跨领域方差 &lt; 0.01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评分倾向在学科间稳定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差异非子领域偏好导致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62000" y="3365500"/>
            <a:ext cx="14732000" cy="101600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16000" y="3429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Think on/off 对照实验</a:t>
            </a: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：35B 开启思考后均值从 </a:t>
            </a:r>
            <a:r>
              <a:rPr lang="en-US" sz="2200" b="1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0.200 → 0.395</a:t>
            </a: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（Δ=+0.195）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极端严格度部分源于推理时间约束，但 Qwen 家族严格度单调递增趋势依然成立——反规模定律结论方向不变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Image 0" descr="https://kimi-img.moonshot.cn/pub/slides/okc/hb5ruaynd6jcq/mnt/agents/output/controlmind_agent/images/judge_api_consensus_alignment.png"/>
          <p:cNvPicPr>
            <a:picLocks noChangeAspect="1"/>
          </p:cNvPicPr>
          <p:nvPr/>
        </p:nvPicPr>
        <p:blipFill>
          <a:blip r:embed="rId3"/>
          <a:srcRect l="-173" r="-173"/>
          <a:stretch/>
        </p:blipFill>
        <p:spPr>
          <a:xfrm>
            <a:off x="762000" y="4635500"/>
            <a:ext cx="7239000" cy="3556000"/>
          </a:xfrm>
          <a:prstGeom prst="rect">
            <a:avLst/>
          </a:prstGeom>
        </p:spPr>
      </p:pic>
      <p:pic>
        <p:nvPicPr>
          <p:cNvPr id="21" name="Image 1" descr="https://kimi-img.moonshot.cn/pub/slides/okc/hb5ruaynd6jcq/mnt/agents/output/controlmind_agent/images/judge_domain_bias_heatmap.png"/>
          <p:cNvPicPr>
            <a:picLocks noChangeAspect="1"/>
          </p:cNvPicPr>
          <p:nvPr/>
        </p:nvPicPr>
        <p:blipFill>
          <a:blip r:embed="rId4"/>
          <a:srcRect l="-28839" r="-28839"/>
          <a:stretch/>
        </p:blipFill>
        <p:spPr>
          <a:xfrm>
            <a:off x="8255000" y="4635500"/>
            <a:ext cx="7239000" cy="35560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62000" y="87884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详见报告 §4.2.2（L1-L4）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15240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09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62000" y="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ControlMind Data Agent · 双重身份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双重身份矩阵——会答题的模型也是最宽松的裁判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Image 0" descr="https://kimi-img.moonshot.cn/pub/slides/okc/hb5ruaynd6jcq/mnt/agents/output/controlmind_agent/images/dual_role_matrix.png"/>
          <p:cNvPicPr>
            <a:picLocks noChangeAspect="1"/>
          </p:cNvPicPr>
          <p:nvPr/>
        </p:nvPicPr>
        <p:blipFill>
          <a:blip r:embed="rId3"/>
          <a:srcRect l="-20939" r="-20939"/>
          <a:stretch/>
        </p:blipFill>
        <p:spPr>
          <a:xfrm>
            <a:off x="762000" y="1397000"/>
            <a:ext cx="9144000" cy="5080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287000" y="1397000"/>
            <a:ext cx="5207000" cy="5080000"/>
          </a:xfrm>
          <a:prstGeom prst="rect">
            <a:avLst/>
          </a:prstGeom>
          <a:solidFill>
            <a:srgbClr val="E8E4DE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287000" y="1397000"/>
            <a:ext cx="50800" cy="5080000"/>
          </a:xfrm>
          <a:prstGeom prst="rect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541000" y="1524000"/>
            <a:ext cx="4762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核心洞察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541000" y="2006600"/>
            <a:ext cx="47625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8 个 API 模型答题排名与评分排名</a:t>
            </a:r>
            <a:r>
              <a:rPr lang="en-US" sz="14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完全一致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r = 0.999991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Pearson 相关系数，p&lt;0.001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4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但本地 Qwen3.5-9B 出现</a:t>
            </a:r>
            <a:r>
              <a:rPr lang="en-US" sz="14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系统性偏移</a:t>
            </a:r>
            <a:r>
              <a:rPr lang="en-US" sz="14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：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答题分 </a:t>
            </a:r>
            <a:r>
              <a:rPr lang="en-US" sz="1400" b="1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0.625</a:t>
            </a:r>
            <a:r>
              <a:rPr lang="en-US" sz="14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 → Judge 分 </a:t>
            </a:r>
            <a:r>
              <a:rPr lang="en-US" sz="14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0.462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Δ = </a:t>
            </a:r>
            <a:r>
              <a:rPr lang="en-US" sz="1400" b="1" dirty="0">
                <a:solidFill>
                  <a:srgbClr val="E74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0.163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同一模型从 API 换到本地 4-bit 量化后，评分行为出现偏移——LLM-as-Judge 的可靠性取决于评分者自身的推理质量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9 模型 Kruskal-Wallis </a:t>
            </a:r>
            <a:r>
              <a:rPr lang="en-US" sz="13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H=89.95</a:t>
            </a: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（p&lt;0.001）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62000" y="6731000"/>
            <a:ext cx="1473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矩阵解读</a:t>
            </a:r>
            <a:r>
              <a:rPr lang="en-US" sz="15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：8 个 API 模型几乎沿对角线分布——"当裁判"时的均值与"当答题者"时的表现高度相关。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Qwen3.5-9B（本地）是远离对角线的</a:t>
            </a:r>
            <a:r>
              <a:rPr lang="en-US" sz="15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异常点</a:t>
            </a:r>
            <a:r>
              <a:rPr lang="en-US" sz="15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：答题第三名但裁判最严。这一差异揭示了"答题能力 ≠ 评分严度"的核心洞察。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对语料质检管线的选型影响：答题表现强的模型未必是最合适的质检员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62000" y="87884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详见报告 §4.1-4.2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5240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10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p14="http://schemas.microsoft.com/office/powerpoint/2010/main"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62000" y="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ControlMind Data Agent · QLoRA 发现链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C 维幸存 + PPL 悖论——LoRA 的破坏力与保护力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62000" y="1460500"/>
            <a:ext cx="4699000" cy="4318000"/>
          </a:xfrm>
          <a:prstGeom prst="rect">
            <a:avLst/>
          </a:prstGeom>
          <a:solidFill>
            <a:srgbClr val="E8E4DE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4699000" cy="635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952500" y="1651000"/>
            <a:ext cx="43180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7AE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① C 维幸存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条件敏感性维度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QLoRA 后精确零退化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27AE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Δ = ±0.0000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三次独立实验（4B/9B/跨尺寸对照）均验证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格式一致性高的推理维度天然受 LoRA 低秩结构保护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C baseline 63.16 → QLoRA 63.16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778500" y="1460500"/>
            <a:ext cx="4699000" cy="4318000"/>
          </a:xfrm>
          <a:prstGeom prst="rect">
            <a:avLst/>
          </a:prstGeom>
          <a:solidFill>
            <a:srgbClr val="E8E4DE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778500" y="1460500"/>
            <a:ext cx="4699000" cy="63500"/>
          </a:xfrm>
          <a:prstGeom prst="rect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969000" y="1651000"/>
            <a:ext cx="43180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② PPL 悖论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Perplexity 大幅下降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但评分几乎不变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−53.6%</a:t>
            </a:r>
            <a:r>
              <a:rPr lang="en-US" sz="15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 </a:t>
            </a:r>
            <a:r>
              <a:rPr lang="en-US" sz="14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PPL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−0.34%</a:t>
            </a:r>
            <a:r>
              <a:rPr lang="en-US" sz="15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 </a:t>
            </a:r>
            <a:r>
              <a:rPr lang="en-US" sz="14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评分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悖论系数 ≈ 73×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语言建模进步 ≠ 推理能力进步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PPL 不宜单独作为语料质量代理指标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95000" y="1460500"/>
            <a:ext cx="4699000" cy="4318000"/>
          </a:xfrm>
          <a:prstGeom prst="rect">
            <a:avLst/>
          </a:prstGeom>
          <a:solidFill>
            <a:srgbClr val="E8E4DE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795000" y="1460500"/>
            <a:ext cx="4699000" cy="635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985500" y="1651000"/>
            <a:ext cx="43180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E74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③ 灾难性遗忘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9B 基座评分崩溃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高秩结构被低秩覆盖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E74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0.6249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→ 0.011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零分率 99%（88/89 题）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PPL 降 38.3% 但评分崩——适配器秩选择是关键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74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高基座受低秩覆盖伤害更大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2000" y="60325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跨架构验证</a:t>
            </a:r>
            <a:r>
              <a:rPr lang="en-US" sz="15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（Qwen/Gemma/SmolLM 三族）排除了"LoRA 固有问题"——C 维分化模式揭示的是</a:t>
            </a:r>
            <a:r>
              <a:rPr lang="en-US" sz="15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基座强度效应</a:t>
            </a:r>
            <a:r>
              <a:rPr lang="en-US" sz="15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，不是 LoRA 固有缺陷。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这不是预设实验设计的结果——是 Agent 自主编排训练→评测闭环后自动揭示的发现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34203"/>
              </p:ext>
            </p:extLst>
          </p:nvPr>
        </p:nvGraphicFramePr>
        <p:xfrm>
          <a:off x="762000" y="7302500"/>
          <a:ext cx="14732000" cy="1016000"/>
        </p:xfrm>
        <a:graphic>
          <a:graphicData uri="http://schemas.openxmlformats.org/drawingml/2006/table">
            <a:tbl>
              <a:tblPr/>
              <a:tblGrid>
                <a:gridCol w="294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架构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基座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C baseline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C QLoRA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C Δ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Overall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Qwen 3.5-4B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4B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63.16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63.16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+0.0000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0.4635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762000" y="87884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详见报告 §4.3-4.4 · DATA-TRACE #13-16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5240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11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62000" y="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ControlMind Data Agent · 容错恢复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故障不是系统的失败——是能力的证据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139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三层容错架构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2000" y="1905000"/>
            <a:ext cx="14732000" cy="1460500"/>
          </a:xfrm>
          <a:prstGeom prst="rect">
            <a:avLst/>
          </a:prstGeom>
          <a:solidFill>
            <a:srgbClr val="2C3E50">
              <a:alpha val="6275"/>
            </a:srgbClr>
          </a:solidFill>
          <a:ln w="254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16000" y="2006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Provider 级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16000" y="23622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HealthCheck → 自动降级链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api → ollama → script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874000" y="2006600"/>
            <a:ext cx="7366000" cy="1206500"/>
          </a:xfrm>
          <a:prstGeom prst="rect">
            <a:avLst/>
          </a:prstGeom>
          <a:solidFill>
            <a:srgbClr val="E8E4DE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064500" y="2070100"/>
            <a:ext cx="698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真实案例</a:t>
            </a:r>
            <a:r>
              <a:rPr lang="en-US" sz="14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：Ollama HTTP 502 Connection Refused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→ get_fallback() 选择 script 路径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→ </a:t>
            </a:r>
            <a:r>
              <a:rPr lang="en-US" sz="2000" b="1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62ms</a:t>
            </a:r>
            <a:r>
              <a:rPr lang="en-US" sz="14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 完成降级，零数据丢失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2000" y="3492500"/>
            <a:ext cx="14732000" cy="1333500"/>
          </a:xfrm>
          <a:prstGeom prst="rect">
            <a:avLst/>
          </a:prstGeom>
          <a:solidFill>
            <a:srgbClr val="B87333">
              <a:alpha val="6275"/>
            </a:srgbClr>
          </a:solidFill>
          <a:ln w="254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16000" y="35941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Step 级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16000" y="39497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Execute + Verify → 最多 3 次重试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JSON 解析失败、LLM 返回空、Verifier 低分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874000" y="3594100"/>
            <a:ext cx="7366000" cy="1079500"/>
          </a:xfrm>
          <a:prstGeom prst="rect">
            <a:avLst/>
          </a:prstGeom>
          <a:solidFill>
            <a:srgbClr val="E8E4DE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064500" y="3657600"/>
            <a:ext cx="698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真实案例</a:t>
            </a:r>
            <a:r>
              <a:rPr lang="en-US" sz="14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：Verifier 判定 LLM 输出质量不达标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→ _self_improve_params() 调优后重试 → 通过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62000" y="4953000"/>
            <a:ext cx="14732000" cy="1143000"/>
          </a:xfrm>
          <a:prstGeom prst="rect">
            <a:avLst/>
          </a:prstGeom>
          <a:solidFill>
            <a:srgbClr val="7F8C8D">
              <a:alpha val="6275"/>
            </a:srgbClr>
          </a:solidFill>
          <a:ln w="254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16000" y="5054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File 级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16000" y="5384800"/>
            <a:ext cx="6350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try/except/continue 跳过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单文件解析异常不影响整体流程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874000" y="5054600"/>
            <a:ext cx="7366000" cy="889000"/>
          </a:xfrm>
          <a:prstGeom prst="rect">
            <a:avLst/>
          </a:prstGeom>
          <a:solidFill>
            <a:srgbClr val="E8E4DE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064500" y="5118100"/>
            <a:ext cx="698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真实案例</a:t>
            </a:r>
            <a:r>
              <a:rPr lang="en-US" sz="14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：MinerU 单文件解析异常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→ 跳过失败文件，其余文件正常处理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62000" y="6286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Checkpoint 恢复机制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62000" y="6731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原子写入</a:t>
            </a:r>
            <a:r>
              <a:rPr lang="en-US" sz="15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：.tmp + os.replace() 模式，写入中断不破坏已有数据　|　</a:t>
            </a:r>
            <a:r>
              <a:rPr lang="en-US" sz="15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断点续跑</a:t>
            </a:r>
            <a:r>
              <a:rPr lang="en-US" sz="15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：--resume 跳过已完成，--retry-failed 仅重试失败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进度可见</a:t>
            </a:r>
            <a:r>
              <a:rPr lang="en-US" sz="15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：monitor 脚本通过 status 更新时间和 progress 增长判断健康状态　|　</a:t>
            </a:r>
            <a:r>
              <a:rPr lang="en-US" sz="15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跨模态审计</a:t>
            </a:r>
            <a:r>
              <a:rPr lang="en-US" sz="15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：~18 分钟完成 9,207 条判决，checkpoint 支持中断恢复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62000" y="8001000"/>
            <a:ext cx="14732000" cy="50800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16000" y="80010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降级链代码入口：resource_scheduler.py → get_fallback() → api → ollama → script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62000" y="87884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详见报告 §5.1-5.3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5240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12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62000" y="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ControlMind Data Agent · 跨领域迁移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跨领域零代码迁移——可复用性不是口号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524000" y="2032000"/>
            <a:ext cx="13208000" cy="3810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422400" y="1930400"/>
            <a:ext cx="228600" cy="228600"/>
          </a:xfrm>
          <a:prstGeom prst="ellipse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2286000"/>
            <a:ext cx="279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控制科学语料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362</a:t>
            </a:r>
            <a:r>
              <a:rPr lang="en-US" sz="14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 </a:t>
            </a: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篇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23 教材 + 339 arXiv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91400" y="1930400"/>
            <a:ext cx="228600" cy="228600"/>
          </a:xfrm>
          <a:prstGeom prst="ellipse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731000" y="1524000"/>
            <a:ext cx="1524000" cy="355600"/>
          </a:xfrm>
          <a:prstGeom prst="rect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731000" y="15240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零代码迁移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96000" y="2286000"/>
            <a:ext cx="279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Agent 编排层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17</a:t>
            </a:r>
            <a:r>
              <a:rPr lang="en-US" sz="14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 </a:t>
            </a: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模块零改动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agent_cli + scheduler + audit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3360400" y="1930400"/>
            <a:ext cx="228600" cy="228600"/>
          </a:xfrm>
          <a:prstGeom prst="ellipse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446000" y="2286000"/>
            <a:ext cx="279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医学 RAG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97</a:t>
            </a:r>
            <a:r>
              <a:rPr lang="en-US" sz="14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 </a:t>
            </a: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篇 PMC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+30 行 medical_mode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556000" y="2032000"/>
            <a:ext cx="2540000" cy="0"/>
          </a:xfrm>
          <a:prstGeom prst="straightConnector1">
            <a:avLst/>
          </a:prstGeom>
          <a:noFill/>
          <a:ln w="25400">
            <a:solidFill>
              <a:srgbClr val="B87333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890000" y="2032000"/>
            <a:ext cx="2540000" cy="0"/>
          </a:xfrm>
          <a:prstGeom prst="straightConnector1">
            <a:avLst/>
          </a:prstGeom>
          <a:noFill/>
          <a:ln w="25400">
            <a:solidFill>
              <a:srgbClr val="B87333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2000" y="3683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同源资产复用：同一资产的两种角色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62000" y="4191000"/>
            <a:ext cx="4699000" cy="1778000"/>
          </a:xfrm>
          <a:prstGeom prst="rect">
            <a:avLst/>
          </a:prstGeom>
          <a:solidFill>
            <a:srgbClr val="E8E4DE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52500" y="4318000"/>
            <a:ext cx="431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500 题 Benchmark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数据集角色 → 评测对象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Agent 角色 → 生产物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联动：同物不同角色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778500" y="4191000"/>
            <a:ext cx="4699000" cy="1778000"/>
          </a:xfrm>
          <a:prstGeom prst="rect">
            <a:avLst/>
          </a:prstGeom>
          <a:solidFill>
            <a:srgbClr val="E8E4DE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969000" y="4318000"/>
            <a:ext cx="431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QLoRA 实验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数据集角色 → 微调提分验证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Agent 角色 → 反直觉发现链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联动：同实验不同结论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795000" y="4191000"/>
            <a:ext cx="4699000" cy="1778000"/>
          </a:xfrm>
          <a:prstGeom prst="rect">
            <a:avLst/>
          </a:prstGeom>
          <a:solidFill>
            <a:srgbClr val="E8E4DE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985500" y="4318000"/>
            <a:ext cx="431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D 数据飞轮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数据集角色 → 排行榜扩张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Agent 角色 → 6 步自主闭环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联动：同过程不同度量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62000" y="6286500"/>
            <a:ext cx="1473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迁移效率的核心原因</a:t>
            </a:r>
            <a:r>
              <a:rPr lang="en-US" sz="15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：控制科学和医学共享同一数学工具谱系——两者都使用微分方程、系统辨识、最优控制等数学工具。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MinerU 的输出格式（chunk 级 Markdown + LaTeX + 独立图片）是统一接口——领域迁移成本从 O(N) 代码重写降为 O(1) 数据切换。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约 100 篇 PMC 文献端到端处理约半日内完成，72 篇核心文献天然使用控制方法（13 个"控制×医学"交叉方向）。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B87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同一 Agent 框架已扩展支持图像+RAG 联合推理：MedBench VLM 10 子集 300 题全量验证，零错误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62000" y="87884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详见报告 §6.1-6.2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5240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13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01600"/>
          </a:xfrm>
          <a:prstGeom prst="rect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778000" y="762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ControlMind Data Agent</a:t>
            </a:r>
            <a:endParaRPr 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048000" y="1524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E8E4D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科学文档处理的可审计执行协议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223000" y="2095500"/>
            <a:ext cx="3810000" cy="25400"/>
          </a:xfrm>
          <a:prstGeom prst="rect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524000" y="2540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03525" y="236577"/>
                </a:moveTo>
                <a:cubicBezTo>
                  <a:pt x="103525" y="237768"/>
                  <a:pt x="102156" y="238720"/>
                  <a:pt x="100429" y="238720"/>
                </a:cubicBezTo>
                <a:cubicBezTo>
                  <a:pt x="98465" y="238899"/>
                  <a:pt x="97095" y="237946"/>
                  <a:pt x="97095" y="236577"/>
                </a:cubicBezTo>
                <a:cubicBezTo>
                  <a:pt x="97095" y="235387"/>
                  <a:pt x="98465" y="234434"/>
                  <a:pt x="100191" y="234434"/>
                </a:cubicBezTo>
                <a:cubicBezTo>
                  <a:pt x="101977" y="234255"/>
                  <a:pt x="103525" y="235208"/>
                  <a:pt x="103525" y="236577"/>
                </a:cubicBezTo>
                <a:close/>
                <a:moveTo>
                  <a:pt x="85011" y="233898"/>
                </a:moveTo>
                <a:cubicBezTo>
                  <a:pt x="84594" y="235089"/>
                  <a:pt x="85785" y="236458"/>
                  <a:pt x="87570" y="236815"/>
                </a:cubicBezTo>
                <a:cubicBezTo>
                  <a:pt x="89118" y="237411"/>
                  <a:pt x="90904" y="236815"/>
                  <a:pt x="91261" y="235625"/>
                </a:cubicBezTo>
                <a:cubicBezTo>
                  <a:pt x="91619" y="234434"/>
                  <a:pt x="90488" y="233065"/>
                  <a:pt x="88702" y="232529"/>
                </a:cubicBezTo>
                <a:cubicBezTo>
                  <a:pt x="87154" y="232112"/>
                  <a:pt x="85427" y="232708"/>
                  <a:pt x="85011" y="233898"/>
                </a:cubicBezTo>
                <a:close/>
                <a:moveTo>
                  <a:pt x="111323" y="232886"/>
                </a:moveTo>
                <a:cubicBezTo>
                  <a:pt x="109597" y="233303"/>
                  <a:pt x="108406" y="234434"/>
                  <a:pt x="108585" y="235803"/>
                </a:cubicBezTo>
                <a:cubicBezTo>
                  <a:pt x="108764" y="236994"/>
                  <a:pt x="110311" y="237768"/>
                  <a:pt x="112097" y="237351"/>
                </a:cubicBezTo>
                <a:cubicBezTo>
                  <a:pt x="113824" y="236934"/>
                  <a:pt x="115014" y="235803"/>
                  <a:pt x="114836" y="234613"/>
                </a:cubicBezTo>
                <a:cubicBezTo>
                  <a:pt x="114657" y="233482"/>
                  <a:pt x="113050" y="232708"/>
                  <a:pt x="111323" y="232886"/>
                </a:cubicBezTo>
                <a:close/>
                <a:moveTo>
                  <a:pt x="150495" y="4763"/>
                </a:moveTo>
                <a:cubicBezTo>
                  <a:pt x="67925" y="4763"/>
                  <a:pt x="4763" y="67449"/>
                  <a:pt x="4763" y="150019"/>
                </a:cubicBezTo>
                <a:cubicBezTo>
                  <a:pt x="4763" y="216039"/>
                  <a:pt x="46315" y="272534"/>
                  <a:pt x="105668" y="292418"/>
                </a:cubicBezTo>
                <a:cubicBezTo>
                  <a:pt x="113288" y="293787"/>
                  <a:pt x="115967" y="289084"/>
                  <a:pt x="115967" y="285214"/>
                </a:cubicBezTo>
                <a:cubicBezTo>
                  <a:pt x="115967" y="281523"/>
                  <a:pt x="115788" y="261164"/>
                  <a:pt x="115788" y="248662"/>
                </a:cubicBezTo>
                <a:cubicBezTo>
                  <a:pt x="115788" y="248662"/>
                  <a:pt x="74116" y="257592"/>
                  <a:pt x="65365" y="230922"/>
                </a:cubicBezTo>
                <a:cubicBezTo>
                  <a:pt x="65365" y="230922"/>
                  <a:pt x="58579" y="213598"/>
                  <a:pt x="48816" y="209133"/>
                </a:cubicBezTo>
                <a:cubicBezTo>
                  <a:pt x="48816" y="209133"/>
                  <a:pt x="35183" y="199787"/>
                  <a:pt x="49768" y="199965"/>
                </a:cubicBezTo>
                <a:cubicBezTo>
                  <a:pt x="49768" y="199965"/>
                  <a:pt x="64591" y="201156"/>
                  <a:pt x="72747" y="215325"/>
                </a:cubicBezTo>
                <a:cubicBezTo>
                  <a:pt x="85785" y="238304"/>
                  <a:pt x="107633" y="231696"/>
                  <a:pt x="116145" y="227767"/>
                </a:cubicBezTo>
                <a:cubicBezTo>
                  <a:pt x="117515" y="218242"/>
                  <a:pt x="121384" y="211634"/>
                  <a:pt x="125670" y="207705"/>
                </a:cubicBezTo>
                <a:cubicBezTo>
                  <a:pt x="92393" y="204014"/>
                  <a:pt x="58817" y="199192"/>
                  <a:pt x="58817" y="141923"/>
                </a:cubicBezTo>
                <a:cubicBezTo>
                  <a:pt x="58817" y="125551"/>
                  <a:pt x="63341" y="117336"/>
                  <a:pt x="72866" y="106859"/>
                </a:cubicBezTo>
                <a:cubicBezTo>
                  <a:pt x="71318" y="102989"/>
                  <a:pt x="66258" y="87035"/>
                  <a:pt x="74414" y="66437"/>
                </a:cubicBezTo>
                <a:cubicBezTo>
                  <a:pt x="86856" y="62567"/>
                  <a:pt x="115491" y="82510"/>
                  <a:pt x="115491" y="82510"/>
                </a:cubicBezTo>
                <a:cubicBezTo>
                  <a:pt x="127397" y="79177"/>
                  <a:pt x="140196" y="77450"/>
                  <a:pt x="152876" y="77450"/>
                </a:cubicBezTo>
                <a:cubicBezTo>
                  <a:pt x="165556" y="77450"/>
                  <a:pt x="178356" y="79177"/>
                  <a:pt x="190262" y="82510"/>
                </a:cubicBezTo>
                <a:cubicBezTo>
                  <a:pt x="190262" y="82510"/>
                  <a:pt x="218896" y="62508"/>
                  <a:pt x="231338" y="66437"/>
                </a:cubicBezTo>
                <a:cubicBezTo>
                  <a:pt x="239494" y="87094"/>
                  <a:pt x="234434" y="102989"/>
                  <a:pt x="232886" y="106859"/>
                </a:cubicBezTo>
                <a:cubicBezTo>
                  <a:pt x="242411" y="117396"/>
                  <a:pt x="248245" y="125611"/>
                  <a:pt x="248245" y="141923"/>
                </a:cubicBezTo>
                <a:cubicBezTo>
                  <a:pt x="248245" y="199370"/>
                  <a:pt x="213181" y="203954"/>
                  <a:pt x="179903" y="207705"/>
                </a:cubicBezTo>
                <a:cubicBezTo>
                  <a:pt x="185380" y="212407"/>
                  <a:pt x="190024" y="221337"/>
                  <a:pt x="190024" y="235327"/>
                </a:cubicBezTo>
                <a:cubicBezTo>
                  <a:pt x="190024" y="255389"/>
                  <a:pt x="189845" y="280214"/>
                  <a:pt x="189845" y="285095"/>
                </a:cubicBezTo>
                <a:cubicBezTo>
                  <a:pt x="189845" y="288965"/>
                  <a:pt x="192584" y="293668"/>
                  <a:pt x="200144" y="292298"/>
                </a:cubicBezTo>
                <a:cubicBezTo>
                  <a:pt x="259675" y="272534"/>
                  <a:pt x="300038" y="216039"/>
                  <a:pt x="300038" y="150019"/>
                </a:cubicBezTo>
                <a:cubicBezTo>
                  <a:pt x="300038" y="67449"/>
                  <a:pt x="233065" y="4763"/>
                  <a:pt x="150495" y="4763"/>
                </a:cubicBezTo>
                <a:close/>
                <a:moveTo>
                  <a:pt x="62627" y="210086"/>
                </a:moveTo>
                <a:cubicBezTo>
                  <a:pt x="61853" y="210681"/>
                  <a:pt x="62032" y="212050"/>
                  <a:pt x="63044" y="213181"/>
                </a:cubicBezTo>
                <a:cubicBezTo>
                  <a:pt x="63996" y="214134"/>
                  <a:pt x="65365" y="214551"/>
                  <a:pt x="66139" y="213777"/>
                </a:cubicBezTo>
                <a:cubicBezTo>
                  <a:pt x="66913" y="213181"/>
                  <a:pt x="66735" y="211812"/>
                  <a:pt x="65723" y="210681"/>
                </a:cubicBezTo>
                <a:cubicBezTo>
                  <a:pt x="64770" y="209729"/>
                  <a:pt x="63401" y="209312"/>
                  <a:pt x="62627" y="210086"/>
                </a:cubicBezTo>
                <a:close/>
                <a:moveTo>
                  <a:pt x="56198" y="205264"/>
                </a:moveTo>
                <a:cubicBezTo>
                  <a:pt x="55781" y="206038"/>
                  <a:pt x="56376" y="206990"/>
                  <a:pt x="57567" y="207585"/>
                </a:cubicBezTo>
                <a:cubicBezTo>
                  <a:pt x="58519" y="208181"/>
                  <a:pt x="59710" y="208002"/>
                  <a:pt x="60127" y="207169"/>
                </a:cubicBezTo>
                <a:cubicBezTo>
                  <a:pt x="60543" y="206395"/>
                  <a:pt x="59948" y="205442"/>
                  <a:pt x="58757" y="204847"/>
                </a:cubicBezTo>
                <a:cubicBezTo>
                  <a:pt x="57567" y="204490"/>
                  <a:pt x="56614" y="204668"/>
                  <a:pt x="56198" y="205264"/>
                </a:cubicBezTo>
                <a:close/>
                <a:moveTo>
                  <a:pt x="75486" y="226457"/>
                </a:moveTo>
                <a:cubicBezTo>
                  <a:pt x="74533" y="227231"/>
                  <a:pt x="74890" y="229017"/>
                  <a:pt x="76260" y="230148"/>
                </a:cubicBezTo>
                <a:cubicBezTo>
                  <a:pt x="77629" y="231517"/>
                  <a:pt x="79355" y="231696"/>
                  <a:pt x="80129" y="230743"/>
                </a:cubicBezTo>
                <a:cubicBezTo>
                  <a:pt x="80903" y="229969"/>
                  <a:pt x="80546" y="228183"/>
                  <a:pt x="79355" y="227052"/>
                </a:cubicBezTo>
                <a:cubicBezTo>
                  <a:pt x="78045" y="225683"/>
                  <a:pt x="76260" y="225504"/>
                  <a:pt x="75486" y="226457"/>
                </a:cubicBezTo>
                <a:close/>
                <a:moveTo>
                  <a:pt x="68699" y="217706"/>
                </a:moveTo>
                <a:cubicBezTo>
                  <a:pt x="67747" y="218301"/>
                  <a:pt x="67747" y="219849"/>
                  <a:pt x="68699" y="221218"/>
                </a:cubicBezTo>
                <a:cubicBezTo>
                  <a:pt x="69652" y="222587"/>
                  <a:pt x="71259" y="223183"/>
                  <a:pt x="72033" y="222587"/>
                </a:cubicBezTo>
                <a:cubicBezTo>
                  <a:pt x="72985" y="221813"/>
                  <a:pt x="72985" y="220266"/>
                  <a:pt x="72033" y="218896"/>
                </a:cubicBezTo>
                <a:cubicBezTo>
                  <a:pt x="71199" y="217527"/>
                  <a:pt x="69652" y="216932"/>
                  <a:pt x="68699" y="217706"/>
                </a:cubicBezTo>
                <a:close/>
              </a:path>
            </a:pathLst>
          </a:cu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1968500" y="2476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代码</a:t>
            </a: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 — MorningStar0709/control-sci</a:t>
            </a: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 (</a:t>
            </a:r>
            <a:r>
              <a:rPr lang="en-US" altLang="zh-CN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CC-BY-4.0</a:t>
            </a: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)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4D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Agent 编排 · Benchmark 评测 · QLoRA 训练 · 部署指南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543050" y="3429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968500" y="3365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数据集</a:t>
            </a: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 — MorningStar0709/control-sci-corpus (CC-BY-4.0)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4D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Chunk Corpus (28K) · Benchmark (500题) · Visual Audit · Leaderboard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504950" y="43180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03252" y="58698"/>
                </a:moveTo>
                <a:cubicBezTo>
                  <a:pt x="307777" y="54173"/>
                  <a:pt x="315337" y="55305"/>
                  <a:pt x="317599" y="61258"/>
                </a:cubicBezTo>
                <a:cubicBezTo>
                  <a:pt x="321647" y="71795"/>
                  <a:pt x="323850" y="83284"/>
                  <a:pt x="323850" y="95250"/>
                </a:cubicBezTo>
                <a:cubicBezTo>
                  <a:pt x="323850" y="147876"/>
                  <a:pt x="281226" y="190500"/>
                  <a:pt x="228600" y="190500"/>
                </a:cubicBezTo>
                <a:cubicBezTo>
                  <a:pt x="218182" y="190500"/>
                  <a:pt x="208121" y="188833"/>
                  <a:pt x="198715" y="185738"/>
                </a:cubicBezTo>
                <a:lnTo>
                  <a:pt x="87451" y="297001"/>
                </a:lnTo>
                <a:cubicBezTo>
                  <a:pt x="70723" y="313730"/>
                  <a:pt x="43577" y="313730"/>
                  <a:pt x="26849" y="297001"/>
                </a:cubicBezTo>
                <a:cubicBezTo>
                  <a:pt x="10120" y="280273"/>
                  <a:pt x="10120" y="253127"/>
                  <a:pt x="26849" y="236399"/>
                </a:cubicBezTo>
                <a:lnTo>
                  <a:pt x="138113" y="125135"/>
                </a:lnTo>
                <a:cubicBezTo>
                  <a:pt x="135017" y="115729"/>
                  <a:pt x="133350" y="105728"/>
                  <a:pt x="133350" y="95250"/>
                </a:cubicBezTo>
                <a:cubicBezTo>
                  <a:pt x="133350" y="42624"/>
                  <a:pt x="175974" y="0"/>
                  <a:pt x="228600" y="0"/>
                </a:cubicBezTo>
                <a:cubicBezTo>
                  <a:pt x="240566" y="0"/>
                  <a:pt x="252055" y="2203"/>
                  <a:pt x="262592" y="6251"/>
                </a:cubicBezTo>
                <a:cubicBezTo>
                  <a:pt x="268545" y="8513"/>
                  <a:pt x="269617" y="16073"/>
                  <a:pt x="265152" y="20598"/>
                </a:cubicBezTo>
                <a:lnTo>
                  <a:pt x="212348" y="73402"/>
                </a:lnTo>
                <a:cubicBezTo>
                  <a:pt x="210562" y="75188"/>
                  <a:pt x="209550" y="77629"/>
                  <a:pt x="209550" y="80129"/>
                </a:cubicBezTo>
                <a:lnTo>
                  <a:pt x="209550" y="104775"/>
                </a:lnTo>
                <a:cubicBezTo>
                  <a:pt x="209550" y="110014"/>
                  <a:pt x="213836" y="114300"/>
                  <a:pt x="219075" y="114300"/>
                </a:cubicBezTo>
                <a:lnTo>
                  <a:pt x="243721" y="114300"/>
                </a:lnTo>
                <a:cubicBezTo>
                  <a:pt x="246221" y="114300"/>
                  <a:pt x="248662" y="113288"/>
                  <a:pt x="250448" y="111502"/>
                </a:cubicBezTo>
                <a:lnTo>
                  <a:pt x="303252" y="58698"/>
                </a:lnTo>
                <a:close/>
              </a:path>
            </a:pathLst>
          </a:cu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968500" y="4254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自研 Skill</a:t>
            </a: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 — mineru-to-md / searching-arxiv-papers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4D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文献检索 → 文档解析 → 工程回顾，全链路开源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890000" y="2540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596" y="70604"/>
                </a:moveTo>
                <a:cubicBezTo>
                  <a:pt x="-1845" y="63163"/>
                  <a:pt x="-1845" y="51078"/>
                  <a:pt x="5596" y="43636"/>
                </a:cubicBezTo>
                <a:cubicBezTo>
                  <a:pt x="13037" y="36195"/>
                  <a:pt x="25122" y="36195"/>
                  <a:pt x="32564" y="43636"/>
                </a:cubicBezTo>
                <a:lnTo>
                  <a:pt x="127814" y="138886"/>
                </a:lnTo>
                <a:cubicBezTo>
                  <a:pt x="135255" y="146328"/>
                  <a:pt x="135255" y="158413"/>
                  <a:pt x="127814" y="165854"/>
                </a:cubicBezTo>
                <a:lnTo>
                  <a:pt x="32564" y="261104"/>
                </a:lnTo>
                <a:cubicBezTo>
                  <a:pt x="25122" y="268545"/>
                  <a:pt x="13037" y="268545"/>
                  <a:pt x="5596" y="261104"/>
                </a:cubicBezTo>
                <a:cubicBezTo>
                  <a:pt x="-1845" y="253663"/>
                  <a:pt x="-1845" y="241578"/>
                  <a:pt x="5596" y="234136"/>
                </a:cubicBezTo>
                <a:lnTo>
                  <a:pt x="87332" y="152400"/>
                </a:lnTo>
                <a:lnTo>
                  <a:pt x="5596" y="70604"/>
                </a:lnTo>
                <a:close/>
                <a:moveTo>
                  <a:pt x="133350" y="228600"/>
                </a:moveTo>
                <a:lnTo>
                  <a:pt x="285750" y="228600"/>
                </a:lnTo>
                <a:cubicBezTo>
                  <a:pt x="296287" y="228600"/>
                  <a:pt x="304800" y="237113"/>
                  <a:pt x="304800" y="247650"/>
                </a:cubicBezTo>
                <a:cubicBezTo>
                  <a:pt x="304800" y="258187"/>
                  <a:pt x="296287" y="266700"/>
                  <a:pt x="285750" y="266700"/>
                </a:cubicBezTo>
                <a:lnTo>
                  <a:pt x="133350" y="266700"/>
                </a:lnTo>
                <a:cubicBezTo>
                  <a:pt x="122813" y="266700"/>
                  <a:pt x="114300" y="258187"/>
                  <a:pt x="114300" y="247650"/>
                </a:cubicBezTo>
                <a:cubicBezTo>
                  <a:pt x="114300" y="237113"/>
                  <a:pt x="122813" y="228600"/>
                  <a:pt x="133350" y="228600"/>
                </a:cubicBezTo>
                <a:close/>
              </a:path>
            </a:pathLst>
          </a:cu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334500" y="2476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验证入口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4D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云端 Demo · 本地 CLI · 一键验收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909050" y="3429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46387" y="-15419"/>
                </a:moveTo>
                <a:cubicBezTo>
                  <a:pt x="138410" y="-20300"/>
                  <a:pt x="128349" y="-20300"/>
                  <a:pt x="120372" y="-15419"/>
                </a:cubicBezTo>
                <a:cubicBezTo>
                  <a:pt x="105847" y="-6548"/>
                  <a:pt x="96857" y="-4167"/>
                  <a:pt x="79831" y="-4524"/>
                </a:cubicBezTo>
                <a:cubicBezTo>
                  <a:pt x="70485" y="-4762"/>
                  <a:pt x="61793" y="298"/>
                  <a:pt x="57269" y="8513"/>
                </a:cubicBezTo>
                <a:cubicBezTo>
                  <a:pt x="49113" y="23455"/>
                  <a:pt x="42505" y="30063"/>
                  <a:pt x="27563" y="38219"/>
                </a:cubicBezTo>
                <a:cubicBezTo>
                  <a:pt x="19348" y="42684"/>
                  <a:pt x="14347" y="51435"/>
                  <a:pt x="14526" y="60781"/>
                </a:cubicBezTo>
                <a:cubicBezTo>
                  <a:pt x="14942" y="77807"/>
                  <a:pt x="12502" y="86797"/>
                  <a:pt x="3631" y="101322"/>
                </a:cubicBezTo>
                <a:cubicBezTo>
                  <a:pt x="-1250" y="109299"/>
                  <a:pt x="-1250" y="119360"/>
                  <a:pt x="3631" y="127337"/>
                </a:cubicBezTo>
                <a:cubicBezTo>
                  <a:pt x="12502" y="141863"/>
                  <a:pt x="14883" y="150852"/>
                  <a:pt x="14526" y="167878"/>
                </a:cubicBezTo>
                <a:cubicBezTo>
                  <a:pt x="14287" y="177225"/>
                  <a:pt x="19348" y="185916"/>
                  <a:pt x="27563" y="190440"/>
                </a:cubicBezTo>
                <a:cubicBezTo>
                  <a:pt x="40719" y="197644"/>
                  <a:pt x="47387" y="203597"/>
                  <a:pt x="54412" y="215146"/>
                </a:cubicBezTo>
                <a:lnTo>
                  <a:pt x="25420" y="272951"/>
                </a:lnTo>
                <a:cubicBezTo>
                  <a:pt x="21908" y="280035"/>
                  <a:pt x="24765" y="288608"/>
                  <a:pt x="31790" y="292120"/>
                </a:cubicBezTo>
                <a:lnTo>
                  <a:pt x="82987" y="317718"/>
                </a:lnTo>
                <a:cubicBezTo>
                  <a:pt x="89833" y="321112"/>
                  <a:pt x="98167" y="318552"/>
                  <a:pt x="101858" y="311884"/>
                </a:cubicBezTo>
                <a:lnTo>
                  <a:pt x="133290" y="255270"/>
                </a:lnTo>
                <a:lnTo>
                  <a:pt x="164723" y="311884"/>
                </a:lnTo>
                <a:cubicBezTo>
                  <a:pt x="168414" y="318552"/>
                  <a:pt x="176748" y="321171"/>
                  <a:pt x="183594" y="317718"/>
                </a:cubicBezTo>
                <a:lnTo>
                  <a:pt x="234791" y="292120"/>
                </a:lnTo>
                <a:cubicBezTo>
                  <a:pt x="241875" y="288608"/>
                  <a:pt x="244733" y="280035"/>
                  <a:pt x="241161" y="272951"/>
                </a:cubicBezTo>
                <a:lnTo>
                  <a:pt x="212229" y="215086"/>
                </a:lnTo>
                <a:cubicBezTo>
                  <a:pt x="219194" y="203537"/>
                  <a:pt x="225921" y="197584"/>
                  <a:pt x="239078" y="190381"/>
                </a:cubicBezTo>
                <a:cubicBezTo>
                  <a:pt x="247293" y="185916"/>
                  <a:pt x="252293" y="177165"/>
                  <a:pt x="252115" y="167819"/>
                </a:cubicBezTo>
                <a:cubicBezTo>
                  <a:pt x="251698" y="150793"/>
                  <a:pt x="254139" y="141803"/>
                  <a:pt x="263009" y="127278"/>
                </a:cubicBezTo>
                <a:cubicBezTo>
                  <a:pt x="267891" y="119301"/>
                  <a:pt x="267891" y="109240"/>
                  <a:pt x="263009" y="101263"/>
                </a:cubicBezTo>
                <a:cubicBezTo>
                  <a:pt x="254139" y="86737"/>
                  <a:pt x="251758" y="77748"/>
                  <a:pt x="252115" y="60722"/>
                </a:cubicBezTo>
                <a:cubicBezTo>
                  <a:pt x="252353" y="51375"/>
                  <a:pt x="247293" y="42684"/>
                  <a:pt x="239078" y="38160"/>
                </a:cubicBezTo>
                <a:cubicBezTo>
                  <a:pt x="224135" y="30004"/>
                  <a:pt x="217527" y="23396"/>
                  <a:pt x="209371" y="8453"/>
                </a:cubicBezTo>
                <a:cubicBezTo>
                  <a:pt x="204907" y="238"/>
                  <a:pt x="196155" y="-4762"/>
                  <a:pt x="186809" y="-4584"/>
                </a:cubicBezTo>
                <a:cubicBezTo>
                  <a:pt x="169783" y="-4167"/>
                  <a:pt x="160794" y="-6608"/>
                  <a:pt x="146268" y="-15478"/>
                </a:cubicBezTo>
                <a:close/>
                <a:moveTo>
                  <a:pt x="133350" y="57150"/>
                </a:moveTo>
                <a:cubicBezTo>
                  <a:pt x="164892" y="57150"/>
                  <a:pt x="190500" y="82758"/>
                  <a:pt x="190500" y="114300"/>
                </a:cubicBezTo>
                <a:cubicBezTo>
                  <a:pt x="190500" y="145842"/>
                  <a:pt x="164892" y="171450"/>
                  <a:pt x="133350" y="171450"/>
                </a:cubicBezTo>
                <a:cubicBezTo>
                  <a:pt x="101808" y="171450"/>
                  <a:pt x="76200" y="145842"/>
                  <a:pt x="76200" y="114300"/>
                </a:cubicBezTo>
                <a:cubicBezTo>
                  <a:pt x="76200" y="82758"/>
                  <a:pt x="101808" y="57150"/>
                  <a:pt x="133350" y="57150"/>
                </a:cubicBezTo>
                <a:close/>
              </a:path>
            </a:pathLst>
          </a:cu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334500" y="3365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社区认可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4D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Trae IDE Community Star 活力之星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524000" y="5334000"/>
            <a:ext cx="13208000" cy="1270000"/>
          </a:xfrm>
          <a:prstGeom prst="rect">
            <a:avLst/>
          </a:prstGeom>
          <a:solidFill>
            <a:srgbClr val="FFFFFF">
              <a:alpha val="6275"/>
            </a:srgbClr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778000" y="5461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E8E4D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Citation</a:t>
            </a:r>
            <a:r>
              <a:rPr lang="en-US" sz="1400" dirty="0">
                <a:solidFill>
                  <a:srgbClr val="E8E4D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 — </a:t>
            </a:r>
            <a:r>
              <a:rPr lang="en-US" altLang="zh-CN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CC-BY-4.0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8E4D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@misc{controlscidatagent2026, author = {{MorningStar}}, year = {2026} }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524000" y="6985000"/>
            <a:ext cx="13208000" cy="12700"/>
          </a:xfrm>
          <a:prstGeom prst="rect">
            <a:avLst/>
          </a:prstGeom>
          <a:solidFill>
            <a:srgbClr val="7F8C8D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048000" y="7239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Track 2 · 智能进化：Agent 能力评测赛道 · 2026 MinerU 数据智能与前沿语料挑战赛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0" y="9042400"/>
            <a:ext cx="16256000" cy="101600"/>
          </a:xfrm>
          <a:prstGeom prst="rect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1488</Words>
  <Application>Microsoft Office PowerPoint</Application>
  <PresentationFormat>自定义</PresentationFormat>
  <Paragraphs>321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QuattrocentoSans</vt:lpstr>
      <vt:lpstr>微软雅黑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ControlMind Data Agent — 科学文档处理的可审计执行协议</dc:title>
  <dc:subject>ControlMind Data Agent — 科学文档处理的可审计执行协议</dc:subject>
  <dc:creator>Kimi</dc:creator>
  <cp:lastModifiedBy>Morning Star</cp:lastModifiedBy>
  <cp:revision>19</cp:revision>
  <dcterms:created xsi:type="dcterms:W3CDTF">2026-05-19T13:56:03Z</dcterms:created>
  <dcterms:modified xsi:type="dcterms:W3CDTF">2026-05-20T06:37:55Z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{"Label":"ControlMind Data Agent — 科学文档处理的可审计执行协议","ContentProducer":"001191110108MACG2KBH8F10000","ProduceID":"19e4084f-bd82-817d-8000-0000f4050a6c","ReservedCode1":"","ContentPropagator":"001191110108MACG2KBH8F20000","PropagateID":"19e4084f-bd82-817d-8000-0000f4050a6c","ReservedCode2":""}</vt:lpwstr>
  </property>
</Properties>
</file>